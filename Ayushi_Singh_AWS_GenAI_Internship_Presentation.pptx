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4.png"/><Relationship Id="rId5" Type="http://schemas.openxmlformats.org/officeDocument/2006/relationships/image" Target="../media/image-10-5.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50"/>
        </a:solidFill>
      </p:bgPr>
    </p:bg>
    <p:spTree>
      <p:nvGrpSpPr>
        <p:cNvPr id="1" name=""/>
        <p:cNvGrpSpPr/>
        <p:nvPr/>
      </p:nvGrpSpPr>
      <p:grpSpPr>
        <a:xfrm>
          <a:off x="0" y="0"/>
          <a:ext cx="0" cy="0"/>
          <a:chOff x="0" y="0"/>
          <a:chExt cx="0" cy="0"/>
        </a:xfrm>
      </p:grpSpPr>
      <p:sp>
        <p:nvSpPr>
          <p:cNvPr id="2" name="Shape 0"/>
          <p:cNvSpPr/>
          <p:nvPr/>
        </p:nvSpPr>
        <p:spPr>
          <a:xfrm>
            <a:off x="9784080" y="-1645920"/>
            <a:ext cx="4754880" cy="4754880"/>
          </a:xfrm>
          <a:prstGeom prst="ellipse">
            <a:avLst/>
          </a:prstGeom>
          <a:solidFill>
            <a:srgbClr val="232C6B"/>
          </a:solidFill>
          <a:ln/>
        </p:spPr>
      </p:sp>
      <p:sp>
        <p:nvSpPr>
          <p:cNvPr id="3" name="Shape 1"/>
          <p:cNvSpPr/>
          <p:nvPr/>
        </p:nvSpPr>
        <p:spPr>
          <a:xfrm>
            <a:off x="10607040" y="4206240"/>
            <a:ext cx="3840480" cy="3840480"/>
          </a:xfrm>
          <a:prstGeom prst="ellipse">
            <a:avLst/>
          </a:prstGeom>
          <a:solidFill>
            <a:srgbClr val="232C6B"/>
          </a:solidFill>
          <a:ln/>
        </p:spPr>
      </p:sp>
      <p:pic>
        <p:nvPicPr>
          <p:cNvPr id="4" name="Image 0" descr="crest.png">    </p:cNvPr>
          <p:cNvPicPr>
            <a:picLocks noChangeAspect="1"/>
          </p:cNvPicPr>
          <p:nvPr/>
        </p:nvPicPr>
        <p:blipFill>
          <a:blip r:embed="rId1"/>
          <a:stretch>
            <a:fillRect/>
          </a:stretch>
        </p:blipFill>
        <p:spPr>
          <a:xfrm>
            <a:off x="502920" y="457200"/>
            <a:ext cx="384048" cy="411480"/>
          </a:xfrm>
          <a:prstGeom prst="rect">
            <a:avLst/>
          </a:prstGeom>
        </p:spPr>
      </p:pic>
      <p:sp>
        <p:nvSpPr>
          <p:cNvPr id="5" name="Text 2"/>
          <p:cNvSpPr/>
          <p:nvPr/>
        </p:nvSpPr>
        <p:spPr>
          <a:xfrm>
            <a:off x="1005840" y="457200"/>
            <a:ext cx="5486400" cy="411480"/>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IILM UNIVERSITY, GREATER NOIDA</a:t>
            </a:r>
            <a:endParaRPr lang="en-US" sz="1400" dirty="0"/>
          </a:p>
        </p:txBody>
      </p:sp>
      <p:sp>
        <p:nvSpPr>
          <p:cNvPr id="6" name="Text 3"/>
          <p:cNvSpPr/>
          <p:nvPr/>
        </p:nvSpPr>
        <p:spPr>
          <a:xfrm>
            <a:off x="548640" y="1920240"/>
            <a:ext cx="6400800" cy="32004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INTERNSHIP REPORT PRESENTATION</a:t>
            </a:r>
            <a:endParaRPr lang="en-US" sz="1300" dirty="0"/>
          </a:p>
        </p:txBody>
      </p:sp>
      <p:sp>
        <p:nvSpPr>
          <p:cNvPr id="7" name="Text 4"/>
          <p:cNvSpPr/>
          <p:nvPr/>
        </p:nvSpPr>
        <p:spPr>
          <a:xfrm>
            <a:off x="502920" y="228600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AWS Gen AI</a:t>
            </a:r>
            <a:endParaRPr lang="en-US" sz="5400" dirty="0"/>
          </a:p>
        </p:txBody>
      </p:sp>
      <p:sp>
        <p:nvSpPr>
          <p:cNvPr id="8" name="Text 5"/>
          <p:cNvSpPr/>
          <p:nvPr/>
        </p:nvSpPr>
        <p:spPr>
          <a:xfrm>
            <a:off x="548640" y="3246120"/>
            <a:ext cx="8229600" cy="685800"/>
          </a:xfrm>
          <a:prstGeom prst="rect">
            <a:avLst/>
          </a:prstGeom>
          <a:noFill/>
          <a:ln/>
        </p:spPr>
        <p:txBody>
          <a:bodyPr wrap="square" lIns="0" tIns="0" rIns="0" bIns="0" rtlCol="0" anchor="ctr"/>
          <a:lstStyle/>
          <a:p>
            <a:pPr indent="0" marL="0">
              <a:buNone/>
            </a:pPr>
            <a:r>
              <a:rPr lang="en-US" sz="3200" dirty="0">
                <a:solidFill>
                  <a:srgbClr val="E9EDF7"/>
                </a:solidFill>
                <a:latin typeface="Cambria" pitchFamily="34" charset="0"/>
                <a:ea typeface="Cambria" pitchFamily="34" charset="-122"/>
                <a:cs typeface="Cambria" pitchFamily="34" charset="-120"/>
              </a:rPr>
              <a:t>Virtual Internship</a:t>
            </a:r>
            <a:endParaRPr lang="en-US" sz="3200" dirty="0"/>
          </a:p>
        </p:txBody>
      </p:sp>
      <p:sp>
        <p:nvSpPr>
          <p:cNvPr id="9" name="Text 6"/>
          <p:cNvSpPr/>
          <p:nvPr/>
        </p:nvSpPr>
        <p:spPr>
          <a:xfrm>
            <a:off x="548640" y="3977640"/>
            <a:ext cx="8686800" cy="365760"/>
          </a:xfrm>
          <a:prstGeom prst="rect">
            <a:avLst/>
          </a:prstGeom>
          <a:noFill/>
          <a:ln/>
        </p:spPr>
        <p:txBody>
          <a:bodyPr wrap="square" lIns="0" tIns="0" rIns="0" bIns="0" rtlCol="0" anchor="ctr"/>
          <a:lstStyle/>
          <a:p>
            <a:pPr indent="0" marL="0">
              <a:buNone/>
            </a:pPr>
            <a:r>
              <a:rPr lang="en-US" sz="1400" dirty="0">
                <a:solidFill>
                  <a:srgbClr val="C7CFEA"/>
                </a:solidFill>
                <a:latin typeface="Calibri" pitchFamily="34" charset="0"/>
                <a:ea typeface="Calibri" pitchFamily="34" charset="-122"/>
                <a:cs typeface="Calibri" pitchFamily="34" charset="-120"/>
              </a:rPr>
              <a:t>AICTE – EduSkills Virtual Internship Program  |  Curriculum Provided by AWS Academy</a:t>
            </a:r>
            <a:endParaRPr lang="en-US" sz="1400" dirty="0"/>
          </a:p>
        </p:txBody>
      </p:sp>
      <p:sp>
        <p:nvSpPr>
          <p:cNvPr id="10" name="Shape 7"/>
          <p:cNvSpPr/>
          <p:nvPr/>
        </p:nvSpPr>
        <p:spPr>
          <a:xfrm>
            <a:off x="548640" y="4526280"/>
            <a:ext cx="1645920" cy="0"/>
          </a:xfrm>
          <a:prstGeom prst="line">
            <a:avLst/>
          </a:prstGeom>
          <a:noFill/>
          <a:ln w="31750">
            <a:solidFill>
              <a:srgbClr val="E8A33D"/>
            </a:solidFill>
            <a:prstDash val="solid"/>
          </a:ln>
        </p:spPr>
      </p:sp>
      <p:sp>
        <p:nvSpPr>
          <p:cNvPr id="11" name="Text 8"/>
          <p:cNvSpPr/>
          <p:nvPr/>
        </p:nvSpPr>
        <p:spPr>
          <a:xfrm>
            <a:off x="548640" y="4709160"/>
            <a:ext cx="54864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Ayushi Singh</a:t>
            </a:r>
            <a:endParaRPr lang="en-US" sz="2000" dirty="0"/>
          </a:p>
        </p:txBody>
      </p:sp>
      <p:sp>
        <p:nvSpPr>
          <p:cNvPr id="12" name="Text 9"/>
          <p:cNvSpPr/>
          <p:nvPr/>
        </p:nvSpPr>
        <p:spPr>
          <a:xfrm>
            <a:off x="548640" y="5102352"/>
            <a:ext cx="5486400" cy="292608"/>
          </a:xfrm>
          <a:prstGeom prst="rect">
            <a:avLst/>
          </a:prstGeom>
          <a:noFill/>
          <a:ln/>
        </p:spPr>
        <p:txBody>
          <a:bodyPr wrap="square" lIns="0" tIns="0" rIns="0" bIns="0" rtlCol="0" anchor="ctr"/>
          <a:lstStyle/>
          <a:p>
            <a:pPr indent="0" marL="0">
              <a:buNone/>
            </a:pPr>
            <a:r>
              <a:rPr lang="en-US" sz="1300" dirty="0">
                <a:solidFill>
                  <a:srgbClr val="B9C2E3"/>
                </a:solidFill>
                <a:latin typeface="Calibri" pitchFamily="34" charset="0"/>
                <a:ea typeface="Calibri" pitchFamily="34" charset="-122"/>
                <a:cs typeface="Calibri" pitchFamily="34" charset="-120"/>
              </a:rPr>
              <a:t>Roll No. 2410030704  |  B.Tech CSE</a:t>
            </a:r>
            <a:endParaRPr lang="en-US" sz="1300" dirty="0"/>
          </a:p>
        </p:txBody>
      </p:sp>
      <p:sp>
        <p:nvSpPr>
          <p:cNvPr id="13" name="Text 10"/>
          <p:cNvSpPr/>
          <p:nvPr/>
        </p:nvSpPr>
        <p:spPr>
          <a:xfrm>
            <a:off x="548640" y="5376672"/>
            <a:ext cx="5486400" cy="292608"/>
          </a:xfrm>
          <a:prstGeom prst="rect">
            <a:avLst/>
          </a:prstGeom>
          <a:noFill/>
          <a:ln/>
        </p:spPr>
        <p:txBody>
          <a:bodyPr wrap="square" lIns="0" tIns="0" rIns="0" bIns="0" rtlCol="0" anchor="ctr"/>
          <a:lstStyle/>
          <a:p>
            <a:pPr indent="0" marL="0">
              <a:buNone/>
            </a:pPr>
            <a:r>
              <a:rPr lang="en-US" sz="1300" dirty="0">
                <a:solidFill>
                  <a:srgbClr val="B9C2E3"/>
                </a:solidFill>
                <a:latin typeface="Calibri" pitchFamily="34" charset="0"/>
                <a:ea typeface="Calibri" pitchFamily="34" charset="-122"/>
                <a:cs typeface="Calibri" pitchFamily="34" charset="-120"/>
              </a:rPr>
              <a:t>April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0" cy="6858000"/>
          </a:xfrm>
          <a:prstGeom prst="rect">
            <a:avLst/>
          </a:prstGeom>
          <a:solidFill>
            <a:srgbClr val="1B2450"/>
          </a:solidFill>
          <a:ln/>
        </p:spPr>
      </p:sp>
      <p:sp>
        <p:nvSpPr>
          <p:cNvPr id="3" name="Shape 1"/>
          <p:cNvSpPr/>
          <p:nvPr/>
        </p:nvSpPr>
        <p:spPr>
          <a:xfrm>
            <a:off x="-1645920" y="4846320"/>
            <a:ext cx="3291840" cy="3291840"/>
          </a:xfrm>
          <a:prstGeom prst="ellipse">
            <a:avLst/>
          </a:prstGeom>
          <a:solidFill>
            <a:srgbClr val="232C6B"/>
          </a:solidFill>
          <a:ln/>
        </p:spPr>
      </p:sp>
      <p:sp>
        <p:nvSpPr>
          <p:cNvPr id="4" name="Shape 2"/>
          <p:cNvSpPr/>
          <p:nvPr/>
        </p:nvSpPr>
        <p:spPr>
          <a:xfrm>
            <a:off x="1051560" y="1051560"/>
            <a:ext cx="1097280" cy="1097280"/>
          </a:xfrm>
          <a:prstGeom prst="ellipse">
            <a:avLst/>
          </a:prstGeom>
          <a:solidFill>
            <a:srgbClr val="232C6B"/>
          </a:solidFill>
          <a:ln/>
        </p:spPr>
      </p:sp>
      <p:pic>
        <p:nvPicPr>
          <p:cNvPr id="5" name="Image 0" descr="icon_cap.png">    </p:cNvPr>
          <p:cNvPicPr>
            <a:picLocks noChangeAspect="1"/>
          </p:cNvPicPr>
          <p:nvPr/>
        </p:nvPicPr>
        <p:blipFill>
          <a:blip r:embed="rId1"/>
          <a:stretch>
            <a:fillRect/>
          </a:stretch>
        </p:blipFill>
        <p:spPr>
          <a:xfrm>
            <a:off x="1298448" y="1298448"/>
            <a:ext cx="603504" cy="603504"/>
          </a:xfrm>
          <a:prstGeom prst="rect">
            <a:avLst/>
          </a:prstGeom>
        </p:spPr>
      </p:pic>
      <p:sp>
        <p:nvSpPr>
          <p:cNvPr id="6" name="Text 3"/>
          <p:cNvSpPr/>
          <p:nvPr/>
        </p:nvSpPr>
        <p:spPr>
          <a:xfrm>
            <a:off x="365760" y="2468880"/>
            <a:ext cx="2468880" cy="1005840"/>
          </a:xfrm>
          <a:prstGeom prst="rect">
            <a:avLst/>
          </a:prstGeom>
          <a:noFill/>
          <a:ln/>
        </p:spPr>
        <p:txBody>
          <a:bodyPr wrap="square" lIns="0" tIns="0" rIns="0" bIns="0" rtlCol="0" anchor="ctr"/>
          <a:lstStyle/>
          <a:p>
            <a:pPr algn="ctr" indent="0" marL="0">
              <a:lnSpc>
                <a:spcPts val="3000"/>
              </a:lnSpc>
              <a:buNone/>
            </a:pPr>
            <a:r>
              <a:rPr lang="en-US" sz="2600" b="1" dirty="0">
                <a:solidFill>
                  <a:srgbClr val="FFFFFF"/>
                </a:solidFill>
                <a:latin typeface="Cambria" pitchFamily="34" charset="0"/>
                <a:ea typeface="Cambria" pitchFamily="34" charset="-122"/>
                <a:cs typeface="Cambria" pitchFamily="34" charset="-120"/>
              </a:rPr>
              <a:t>Ayushi</a:t>
            </a:r>
            <a:endParaRPr lang="en-US" sz="2600" dirty="0"/>
          </a:p>
          <a:p>
            <a:pPr algn="ctr" indent="0" marL="0">
              <a:lnSpc>
                <a:spcPts val="3000"/>
              </a:lnSpc>
              <a:buNone/>
            </a:pPr>
            <a:r>
              <a:rPr lang="en-US" sz="2600" b="1" dirty="0">
                <a:solidFill>
                  <a:srgbClr val="FFFFFF"/>
                </a:solidFill>
                <a:latin typeface="Cambria" pitchFamily="34" charset="0"/>
                <a:ea typeface="Cambria" pitchFamily="34" charset="-122"/>
                <a:cs typeface="Cambria" pitchFamily="34" charset="-120"/>
              </a:rPr>
              <a:t>Singh</a:t>
            </a:r>
            <a:endParaRPr lang="en-US" sz="2600" dirty="0"/>
          </a:p>
        </p:txBody>
      </p:sp>
      <p:sp>
        <p:nvSpPr>
          <p:cNvPr id="7" name="Text 4"/>
          <p:cNvSpPr/>
          <p:nvPr/>
        </p:nvSpPr>
        <p:spPr>
          <a:xfrm>
            <a:off x="365760" y="3520440"/>
            <a:ext cx="2468880" cy="457200"/>
          </a:xfrm>
          <a:prstGeom prst="rect">
            <a:avLst/>
          </a:prstGeom>
          <a:noFill/>
          <a:ln/>
        </p:spPr>
        <p:txBody>
          <a:bodyPr wrap="square" lIns="0" tIns="0" rIns="0" bIns="0" rtlCol="0" anchor="ctr"/>
          <a:lstStyle/>
          <a:p>
            <a:pPr algn="ctr" indent="0" marL="0">
              <a:buNone/>
            </a:pPr>
            <a:r>
              <a:rPr lang="en-US" sz="1200" dirty="0">
                <a:solidFill>
                  <a:srgbClr val="B9C2E3"/>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5"/>
          <p:cNvSpPr/>
          <p:nvPr/>
        </p:nvSpPr>
        <p:spPr>
          <a:xfrm>
            <a:off x="3611880" y="566928"/>
            <a:ext cx="5486400" cy="274320"/>
          </a:xfrm>
          <a:prstGeom prst="rect">
            <a:avLst/>
          </a:prstGeom>
          <a:noFill/>
          <a:ln/>
        </p:spPr>
        <p:txBody>
          <a:bodyPr wrap="square" lIns="0" tIns="0" rIns="0" bIns="0" rtlCol="0" anchor="ctr"/>
          <a:lstStyle/>
          <a:p>
            <a:pPr indent="0" marL="0">
              <a:buNone/>
            </a:pPr>
            <a:r>
              <a:rPr lang="en-US" sz="1200" b="1" spc="200" kern="0" dirty="0">
                <a:solidFill>
                  <a:srgbClr val="C77D12"/>
                </a:solidFill>
                <a:latin typeface="Calibri" pitchFamily="34" charset="0"/>
                <a:ea typeface="Calibri" pitchFamily="34" charset="-122"/>
                <a:cs typeface="Calibri" pitchFamily="34" charset="-120"/>
              </a:rPr>
              <a:t>ABOUT THE STUDENT</a:t>
            </a:r>
            <a:endParaRPr lang="en-US" sz="1200" dirty="0"/>
          </a:p>
        </p:txBody>
      </p:sp>
      <p:sp>
        <p:nvSpPr>
          <p:cNvPr id="9" name="Text 6"/>
          <p:cNvSpPr/>
          <p:nvPr/>
        </p:nvSpPr>
        <p:spPr>
          <a:xfrm>
            <a:off x="3566160" y="868680"/>
            <a:ext cx="7315200" cy="640080"/>
          </a:xfrm>
          <a:prstGeom prst="rect">
            <a:avLst/>
          </a:prstGeom>
          <a:noFill/>
          <a:ln/>
        </p:spPr>
        <p:txBody>
          <a:bodyPr wrap="square" lIns="0" tIns="0" rIns="0" bIns="0" rtlCol="0" anchor="ctr"/>
          <a:lstStyle/>
          <a:p>
            <a:pPr indent="0" marL="0">
              <a:buNone/>
            </a:pPr>
            <a:r>
              <a:rPr lang="en-US" sz="3200" b="1" dirty="0">
                <a:solidFill>
                  <a:srgbClr val="1A1A2E"/>
                </a:solidFill>
                <a:latin typeface="Cambria" pitchFamily="34" charset="0"/>
                <a:ea typeface="Cambria" pitchFamily="34" charset="-122"/>
                <a:cs typeface="Cambria" pitchFamily="34" charset="-120"/>
              </a:rPr>
              <a:t>Candidate Profile</a:t>
            </a:r>
            <a:endParaRPr lang="en-US" sz="3200" dirty="0"/>
          </a:p>
        </p:txBody>
      </p:sp>
      <p:sp>
        <p:nvSpPr>
          <p:cNvPr id="10" name="Shape 7"/>
          <p:cNvSpPr/>
          <p:nvPr/>
        </p:nvSpPr>
        <p:spPr>
          <a:xfrm>
            <a:off x="3611880" y="1783080"/>
            <a:ext cx="502920" cy="502920"/>
          </a:xfrm>
          <a:prstGeom prst="ellipse">
            <a:avLst/>
          </a:prstGeom>
          <a:solidFill>
            <a:srgbClr val="E9EDF7"/>
          </a:solidFill>
          <a:ln/>
        </p:spPr>
      </p:sp>
      <p:pic>
        <p:nvPicPr>
          <p:cNvPr id="11" name="Image 1" descr="icon_idcard_navy.png">    </p:cNvPr>
          <p:cNvPicPr>
            <a:picLocks noChangeAspect="1"/>
          </p:cNvPicPr>
          <p:nvPr/>
        </p:nvPicPr>
        <p:blipFill>
          <a:blip r:embed="rId2"/>
          <a:stretch>
            <a:fillRect/>
          </a:stretch>
        </p:blipFill>
        <p:spPr>
          <a:xfrm>
            <a:off x="3730752" y="1901952"/>
            <a:ext cx="265176" cy="265176"/>
          </a:xfrm>
          <a:prstGeom prst="rect">
            <a:avLst/>
          </a:prstGeom>
        </p:spPr>
      </p:pic>
      <p:sp>
        <p:nvSpPr>
          <p:cNvPr id="12" name="Text 8"/>
          <p:cNvSpPr/>
          <p:nvPr/>
        </p:nvSpPr>
        <p:spPr>
          <a:xfrm>
            <a:off x="4297680" y="1755648"/>
            <a:ext cx="6400800" cy="256032"/>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ROLL NUMBER</a:t>
            </a:r>
            <a:endParaRPr lang="en-US" sz="1100" dirty="0"/>
          </a:p>
        </p:txBody>
      </p:sp>
      <p:sp>
        <p:nvSpPr>
          <p:cNvPr id="13" name="Text 9"/>
          <p:cNvSpPr/>
          <p:nvPr/>
        </p:nvSpPr>
        <p:spPr>
          <a:xfrm>
            <a:off x="4297680" y="1984248"/>
            <a:ext cx="7132320" cy="347472"/>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2410030704</a:t>
            </a:r>
            <a:endParaRPr lang="en-US" sz="1600" dirty="0"/>
          </a:p>
        </p:txBody>
      </p:sp>
      <p:sp>
        <p:nvSpPr>
          <p:cNvPr id="14" name="Shape 10"/>
          <p:cNvSpPr/>
          <p:nvPr/>
        </p:nvSpPr>
        <p:spPr>
          <a:xfrm>
            <a:off x="3611880" y="2651760"/>
            <a:ext cx="502920" cy="502920"/>
          </a:xfrm>
          <a:prstGeom prst="ellipse">
            <a:avLst/>
          </a:prstGeom>
          <a:solidFill>
            <a:srgbClr val="E9EDF7"/>
          </a:solidFill>
          <a:ln/>
        </p:spPr>
      </p:sp>
      <p:pic>
        <p:nvPicPr>
          <p:cNvPr id="15" name="Image 2" descr="icon_university_navy.png">    </p:cNvPr>
          <p:cNvPicPr>
            <a:picLocks noChangeAspect="1"/>
          </p:cNvPicPr>
          <p:nvPr/>
        </p:nvPicPr>
        <p:blipFill>
          <a:blip r:embed="rId3"/>
          <a:stretch>
            <a:fillRect/>
          </a:stretch>
        </p:blipFill>
        <p:spPr>
          <a:xfrm>
            <a:off x="3730752" y="2770632"/>
            <a:ext cx="265176" cy="265176"/>
          </a:xfrm>
          <a:prstGeom prst="rect">
            <a:avLst/>
          </a:prstGeom>
        </p:spPr>
      </p:pic>
      <p:sp>
        <p:nvSpPr>
          <p:cNvPr id="16" name="Text 11"/>
          <p:cNvSpPr/>
          <p:nvPr/>
        </p:nvSpPr>
        <p:spPr>
          <a:xfrm>
            <a:off x="4297680" y="2624328"/>
            <a:ext cx="6400800" cy="256032"/>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INSTITUTE</a:t>
            </a:r>
            <a:endParaRPr lang="en-US" sz="1100" dirty="0"/>
          </a:p>
        </p:txBody>
      </p:sp>
      <p:sp>
        <p:nvSpPr>
          <p:cNvPr id="17" name="Text 12"/>
          <p:cNvSpPr/>
          <p:nvPr/>
        </p:nvSpPr>
        <p:spPr>
          <a:xfrm>
            <a:off x="4297680" y="2852928"/>
            <a:ext cx="7132320" cy="347472"/>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IILM University, Greater Noida, U.P.</a:t>
            </a:r>
            <a:endParaRPr lang="en-US" sz="1600" dirty="0"/>
          </a:p>
        </p:txBody>
      </p:sp>
      <p:sp>
        <p:nvSpPr>
          <p:cNvPr id="18" name="Shape 13"/>
          <p:cNvSpPr/>
          <p:nvPr/>
        </p:nvSpPr>
        <p:spPr>
          <a:xfrm>
            <a:off x="3611880" y="3520440"/>
            <a:ext cx="502920" cy="502920"/>
          </a:xfrm>
          <a:prstGeom prst="ellipse">
            <a:avLst/>
          </a:prstGeom>
          <a:solidFill>
            <a:srgbClr val="E9EDF7"/>
          </a:solidFill>
          <a:ln/>
        </p:spPr>
      </p:sp>
      <p:pic>
        <p:nvPicPr>
          <p:cNvPr id="19" name="Image 3" descr="icon_cap_navy.png">    </p:cNvPr>
          <p:cNvPicPr>
            <a:picLocks noChangeAspect="1"/>
          </p:cNvPicPr>
          <p:nvPr/>
        </p:nvPicPr>
        <p:blipFill>
          <a:blip r:embed="rId4"/>
          <a:stretch>
            <a:fillRect/>
          </a:stretch>
        </p:blipFill>
        <p:spPr>
          <a:xfrm>
            <a:off x="3730752" y="3639312"/>
            <a:ext cx="265176" cy="265176"/>
          </a:xfrm>
          <a:prstGeom prst="rect">
            <a:avLst/>
          </a:prstGeom>
        </p:spPr>
      </p:pic>
      <p:sp>
        <p:nvSpPr>
          <p:cNvPr id="20" name="Text 14"/>
          <p:cNvSpPr/>
          <p:nvPr/>
        </p:nvSpPr>
        <p:spPr>
          <a:xfrm>
            <a:off x="4297680" y="3493008"/>
            <a:ext cx="6400800" cy="256032"/>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PROGRAMME</a:t>
            </a:r>
            <a:endParaRPr lang="en-US" sz="1100" dirty="0"/>
          </a:p>
        </p:txBody>
      </p:sp>
      <p:sp>
        <p:nvSpPr>
          <p:cNvPr id="21" name="Text 15"/>
          <p:cNvSpPr/>
          <p:nvPr/>
        </p:nvSpPr>
        <p:spPr>
          <a:xfrm>
            <a:off x="4297680" y="3721608"/>
            <a:ext cx="7132320" cy="347472"/>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B.Tech CSE, Batch 2024–2028</a:t>
            </a:r>
            <a:endParaRPr lang="en-US" sz="1600" dirty="0"/>
          </a:p>
        </p:txBody>
      </p:sp>
      <p:sp>
        <p:nvSpPr>
          <p:cNvPr id="22" name="Shape 16"/>
          <p:cNvSpPr/>
          <p:nvPr/>
        </p:nvSpPr>
        <p:spPr>
          <a:xfrm>
            <a:off x="3611880" y="4389120"/>
            <a:ext cx="502920" cy="502920"/>
          </a:xfrm>
          <a:prstGeom prst="ellipse">
            <a:avLst/>
          </a:prstGeom>
          <a:solidFill>
            <a:srgbClr val="E9EDF7"/>
          </a:solidFill>
          <a:ln/>
        </p:spPr>
      </p:sp>
      <p:pic>
        <p:nvPicPr>
          <p:cNvPr id="23" name="Image 4" descr="icon_target_navy.png">    </p:cNvPr>
          <p:cNvPicPr>
            <a:picLocks noChangeAspect="1"/>
          </p:cNvPicPr>
          <p:nvPr/>
        </p:nvPicPr>
        <p:blipFill>
          <a:blip r:embed="rId5"/>
          <a:stretch>
            <a:fillRect/>
          </a:stretch>
        </p:blipFill>
        <p:spPr>
          <a:xfrm>
            <a:off x="3730752" y="4507992"/>
            <a:ext cx="265176" cy="265176"/>
          </a:xfrm>
          <a:prstGeom prst="rect">
            <a:avLst/>
          </a:prstGeom>
        </p:spPr>
      </p:pic>
      <p:sp>
        <p:nvSpPr>
          <p:cNvPr id="24" name="Text 17"/>
          <p:cNvSpPr/>
          <p:nvPr/>
        </p:nvSpPr>
        <p:spPr>
          <a:xfrm>
            <a:off x="4297680" y="4361688"/>
            <a:ext cx="6400800" cy="256032"/>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INTERNSHIP DOMAIN</a:t>
            </a:r>
            <a:endParaRPr lang="en-US" sz="1100" dirty="0"/>
          </a:p>
        </p:txBody>
      </p:sp>
      <p:sp>
        <p:nvSpPr>
          <p:cNvPr id="25" name="Text 18"/>
          <p:cNvSpPr/>
          <p:nvPr/>
        </p:nvSpPr>
        <p:spPr>
          <a:xfrm>
            <a:off x="4297680" y="4590288"/>
            <a:ext cx="7132320" cy="347472"/>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AWS Gen AI</a:t>
            </a:r>
            <a:endParaRPr lang="en-US" sz="1600" dirty="0"/>
          </a:p>
        </p:txBody>
      </p:sp>
      <p:sp>
        <p:nvSpPr>
          <p:cNvPr id="26" name="Shape 19"/>
          <p:cNvSpPr/>
          <p:nvPr/>
        </p:nvSpPr>
        <p:spPr>
          <a:xfrm>
            <a:off x="3611880" y="5257800"/>
            <a:ext cx="502920" cy="502920"/>
          </a:xfrm>
          <a:prstGeom prst="ellipse">
            <a:avLst/>
          </a:prstGeom>
          <a:solidFill>
            <a:srgbClr val="E9EDF7"/>
          </a:solidFill>
          <a:ln/>
        </p:spPr>
      </p:sp>
      <p:pic>
        <p:nvPicPr>
          <p:cNvPr id="27" name="Image 5" descr="icon_calendar_navy.png">    </p:cNvPr>
          <p:cNvPicPr>
            <a:picLocks noChangeAspect="1"/>
          </p:cNvPicPr>
          <p:nvPr/>
        </p:nvPicPr>
        <p:blipFill>
          <a:blip r:embed="rId6"/>
          <a:stretch>
            <a:fillRect/>
          </a:stretch>
        </p:blipFill>
        <p:spPr>
          <a:xfrm>
            <a:off x="3730752" y="5376672"/>
            <a:ext cx="265176" cy="265176"/>
          </a:xfrm>
          <a:prstGeom prst="rect">
            <a:avLst/>
          </a:prstGeom>
        </p:spPr>
      </p:pic>
      <p:sp>
        <p:nvSpPr>
          <p:cNvPr id="28" name="Text 20"/>
          <p:cNvSpPr/>
          <p:nvPr/>
        </p:nvSpPr>
        <p:spPr>
          <a:xfrm>
            <a:off x="4297680" y="5230368"/>
            <a:ext cx="6400800" cy="256032"/>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DURATION</a:t>
            </a:r>
            <a:endParaRPr lang="en-US" sz="1100" dirty="0"/>
          </a:p>
        </p:txBody>
      </p:sp>
      <p:sp>
        <p:nvSpPr>
          <p:cNvPr id="29" name="Text 21"/>
          <p:cNvSpPr/>
          <p:nvPr/>
        </p:nvSpPr>
        <p:spPr>
          <a:xfrm>
            <a:off x="4297680" y="5458968"/>
            <a:ext cx="7132320" cy="347472"/>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8 Weeks | April – June 2026</a:t>
            </a:r>
            <a:endParaRPr lang="en-US" sz="1600" dirty="0"/>
          </a:p>
        </p:txBody>
      </p:sp>
      <p:sp>
        <p:nvSpPr>
          <p:cNvPr id="30" name="Text 2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31" name="Text 23"/>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lIns="0" tIns="0" rIns="0" bIns="0" rtlCol="0" anchor="ctr"/>
          <a:lstStyle/>
          <a:p>
            <a:pPr indent="0" marL="0">
              <a:buNone/>
            </a:pPr>
            <a:r>
              <a:rPr lang="en-US" sz="1200" b="1" spc="200" kern="0" dirty="0">
                <a:solidFill>
                  <a:srgbClr val="C77D12"/>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502920" y="777240"/>
            <a:ext cx="10515600" cy="64008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EduSkills, AICTE &amp; AWS Academy</a:t>
            </a:r>
            <a:endParaRPr lang="en-US" sz="3000" dirty="0"/>
          </a:p>
        </p:txBody>
      </p:sp>
      <p:sp>
        <p:nvSpPr>
          <p:cNvPr id="4" name="Text 2"/>
          <p:cNvSpPr/>
          <p:nvPr/>
        </p:nvSpPr>
        <p:spPr>
          <a:xfrm>
            <a:off x="548640" y="1554480"/>
            <a:ext cx="11064240" cy="1234440"/>
          </a:xfrm>
          <a:prstGeom prst="rect">
            <a:avLst/>
          </a:prstGeom>
          <a:noFill/>
          <a:ln/>
        </p:spPr>
        <p:txBody>
          <a:bodyPr wrap="square" lIns="0" tIns="0" rIns="0" bIns="0" rtlCol="0" anchor="ctr"/>
          <a:lstStyle/>
          <a:p>
            <a:pPr indent="0" marL="0">
              <a:lnSpc>
                <a:spcPts val="2200"/>
              </a:lnSpc>
              <a:buNone/>
            </a:pPr>
            <a:r>
              <a:rPr lang="en-US" sz="1400" dirty="0">
                <a:solidFill>
                  <a:srgbClr val="3A3F55"/>
                </a:solidFill>
                <a:latin typeface="Calibri" pitchFamily="34" charset="0"/>
                <a:ea typeface="Calibri" pitchFamily="34" charset="-122"/>
                <a:cs typeface="Calibri" pitchFamily="34" charset="-120"/>
              </a:rPr>
              <a:t>EduSkills Academy is an ISO 9001:2015 and ISO/IEC 20000-1:2018 certified organization working under the theme “Nation Building Through Skills.” It partners with the All India Council for Technical Education (AICTE) to run the AICTE–EduSkills Virtual Internship Program under the patronage of the AICTE National Internship Portal. For the AWS Gen AI track, EduSkills collaborates with AWS Academy to deliver an industry-aligned, week-wise curriculum covering machine learning, computer vision, NLP, and Generative AI foundations.</a:t>
            </a:r>
            <a:endParaRPr lang="en-US" sz="1400" dirty="0"/>
          </a:p>
        </p:txBody>
      </p:sp>
      <p:sp>
        <p:nvSpPr>
          <p:cNvPr id="5" name="Shape 3"/>
          <p:cNvSpPr/>
          <p:nvPr/>
        </p:nvSpPr>
        <p:spPr>
          <a:xfrm>
            <a:off x="548640" y="3063240"/>
            <a:ext cx="3520440" cy="2331720"/>
          </a:xfrm>
          <a:prstGeom prst="roundRect">
            <a:avLst>
              <a:gd name="adj" fmla="val 3137"/>
            </a:avLst>
          </a:prstGeom>
          <a:solidFill>
            <a:srgbClr val="FFFFFF"/>
          </a:solidFill>
          <a:ln/>
          <a:effectLst>
            <a:outerShdw sx="100000" sy="100000" kx="0" ky="0" algn="bl" rotWithShape="0" blurRad="101600" dist="38100" dir="5400000">
              <a:srgbClr val="000000">
                <a:alpha val="12000"/>
              </a:srgbClr>
            </a:outerShdw>
          </a:effectLst>
        </p:spPr>
      </p:sp>
      <p:sp>
        <p:nvSpPr>
          <p:cNvPr id="6" name="Shape 4"/>
          <p:cNvSpPr/>
          <p:nvPr/>
        </p:nvSpPr>
        <p:spPr>
          <a:xfrm>
            <a:off x="1897380" y="3429000"/>
            <a:ext cx="822960" cy="822960"/>
          </a:xfrm>
          <a:prstGeom prst="ellipse">
            <a:avLst/>
          </a:prstGeom>
          <a:solidFill>
            <a:srgbClr val="E9EDF7"/>
          </a:solidFill>
          <a:ln/>
        </p:spPr>
      </p:sp>
      <p:pic>
        <p:nvPicPr>
          <p:cNvPr id="7" name="Image 0" descr="icon_certificate_navy.png">    </p:cNvPr>
          <p:cNvPicPr>
            <a:picLocks noChangeAspect="1"/>
          </p:cNvPicPr>
          <p:nvPr/>
        </p:nvPicPr>
        <p:blipFill>
          <a:blip r:embed="rId1"/>
          <a:stretch>
            <a:fillRect/>
          </a:stretch>
        </p:blipFill>
        <p:spPr>
          <a:xfrm>
            <a:off x="2089404" y="3621024"/>
            <a:ext cx="438912" cy="438912"/>
          </a:xfrm>
          <a:prstGeom prst="rect">
            <a:avLst/>
          </a:prstGeom>
        </p:spPr>
      </p:pic>
      <p:sp>
        <p:nvSpPr>
          <p:cNvPr id="8" name="Text 5"/>
          <p:cNvSpPr/>
          <p:nvPr/>
        </p:nvSpPr>
        <p:spPr>
          <a:xfrm>
            <a:off x="731520" y="4389120"/>
            <a:ext cx="3154680" cy="365760"/>
          </a:xfrm>
          <a:prstGeom prst="rect">
            <a:avLst/>
          </a:prstGeom>
          <a:noFill/>
          <a:ln/>
        </p:spPr>
        <p:txBody>
          <a:bodyPr wrap="square" lIns="0" tIns="0" rIns="0" bIns="0" rtlCol="0" anchor="ctr"/>
          <a:lstStyle/>
          <a:p>
            <a:pPr algn="ctr" indent="0" marL="0">
              <a:buNone/>
            </a:pPr>
            <a:r>
              <a:rPr lang="en-US" sz="1700" b="1" dirty="0">
                <a:solidFill>
                  <a:srgbClr val="1A1A2E"/>
                </a:solidFill>
                <a:latin typeface="Cambria" pitchFamily="34" charset="0"/>
                <a:ea typeface="Cambria" pitchFamily="34" charset="-122"/>
                <a:cs typeface="Cambria" pitchFamily="34" charset="-120"/>
              </a:rPr>
              <a:t>ISO Certified</a:t>
            </a:r>
            <a:endParaRPr lang="en-US" sz="1700" dirty="0"/>
          </a:p>
        </p:txBody>
      </p:sp>
      <p:sp>
        <p:nvSpPr>
          <p:cNvPr id="9" name="Text 6"/>
          <p:cNvSpPr/>
          <p:nvPr/>
        </p:nvSpPr>
        <p:spPr>
          <a:xfrm>
            <a:off x="822960" y="4754880"/>
            <a:ext cx="2971800" cy="548640"/>
          </a:xfrm>
          <a:prstGeom prst="rect">
            <a:avLst/>
          </a:prstGeom>
          <a:noFill/>
          <a:ln/>
        </p:spPr>
        <p:txBody>
          <a:bodyPr wrap="square" lIns="0" tIns="0" rIns="0" bIns="0" rtlCol="0" anchor="ctr"/>
          <a:lstStyle/>
          <a:p>
            <a:pPr algn="ctr" indent="0" marL="0">
              <a:lnSpc>
                <a:spcPts val="1500"/>
              </a:lnSpc>
              <a:buNone/>
            </a:pPr>
            <a:r>
              <a:rPr lang="en-US" sz="1150" dirty="0">
                <a:solidFill>
                  <a:srgbClr val="6B7280"/>
                </a:solidFill>
                <a:latin typeface="Calibri" pitchFamily="34" charset="0"/>
                <a:ea typeface="Calibri" pitchFamily="34" charset="-122"/>
                <a:cs typeface="Calibri" pitchFamily="34" charset="-120"/>
              </a:rPr>
              <a:t>ISO 9001:2015 &amp; ISO/IEC 20000-1:2018 certified organization.</a:t>
            </a:r>
            <a:endParaRPr lang="en-US" sz="1150" dirty="0"/>
          </a:p>
        </p:txBody>
      </p:sp>
      <p:sp>
        <p:nvSpPr>
          <p:cNvPr id="10" name="Shape 7"/>
          <p:cNvSpPr/>
          <p:nvPr/>
        </p:nvSpPr>
        <p:spPr>
          <a:xfrm>
            <a:off x="4389120" y="3063240"/>
            <a:ext cx="3520440" cy="2331720"/>
          </a:xfrm>
          <a:prstGeom prst="roundRect">
            <a:avLst>
              <a:gd name="adj" fmla="val 3137"/>
            </a:avLst>
          </a:prstGeom>
          <a:solidFill>
            <a:srgbClr val="FFFFFF"/>
          </a:solidFill>
          <a:ln/>
          <a:effectLst>
            <a:outerShdw sx="100000" sy="100000" kx="0" ky="0" algn="bl" rotWithShape="0" blurRad="101600" dist="38100" dir="5400000">
              <a:srgbClr val="000000">
                <a:alpha val="12000"/>
              </a:srgbClr>
            </a:outerShdw>
          </a:effectLst>
        </p:spPr>
      </p:sp>
      <p:sp>
        <p:nvSpPr>
          <p:cNvPr id="11" name="Shape 8"/>
          <p:cNvSpPr/>
          <p:nvPr/>
        </p:nvSpPr>
        <p:spPr>
          <a:xfrm>
            <a:off x="5737860" y="3429000"/>
            <a:ext cx="822960" cy="822960"/>
          </a:xfrm>
          <a:prstGeom prst="ellipse">
            <a:avLst/>
          </a:prstGeom>
          <a:solidFill>
            <a:srgbClr val="E9EDF7"/>
          </a:solidFill>
          <a:ln/>
        </p:spPr>
      </p:sp>
      <p:pic>
        <p:nvPicPr>
          <p:cNvPr id="12" name="Image 1" descr="icon_flag_navy.png">    </p:cNvPr>
          <p:cNvPicPr>
            <a:picLocks noChangeAspect="1"/>
          </p:cNvPicPr>
          <p:nvPr/>
        </p:nvPicPr>
        <p:blipFill>
          <a:blip r:embed="rId2"/>
          <a:stretch>
            <a:fillRect/>
          </a:stretch>
        </p:blipFill>
        <p:spPr>
          <a:xfrm>
            <a:off x="5929884" y="3621024"/>
            <a:ext cx="438912" cy="438912"/>
          </a:xfrm>
          <a:prstGeom prst="rect">
            <a:avLst/>
          </a:prstGeom>
        </p:spPr>
      </p:pic>
      <p:sp>
        <p:nvSpPr>
          <p:cNvPr id="13" name="Text 9"/>
          <p:cNvSpPr/>
          <p:nvPr/>
        </p:nvSpPr>
        <p:spPr>
          <a:xfrm>
            <a:off x="4572000" y="4389120"/>
            <a:ext cx="3154680" cy="365760"/>
          </a:xfrm>
          <a:prstGeom prst="rect">
            <a:avLst/>
          </a:prstGeom>
          <a:noFill/>
          <a:ln/>
        </p:spPr>
        <p:txBody>
          <a:bodyPr wrap="square" lIns="0" tIns="0" rIns="0" bIns="0" rtlCol="0" anchor="ctr"/>
          <a:lstStyle/>
          <a:p>
            <a:pPr algn="ctr" indent="0" marL="0">
              <a:buNone/>
            </a:pPr>
            <a:r>
              <a:rPr lang="en-US" sz="1700" b="1" dirty="0">
                <a:solidFill>
                  <a:srgbClr val="1A1A2E"/>
                </a:solidFill>
                <a:latin typeface="Cambria" pitchFamily="34" charset="0"/>
                <a:ea typeface="Cambria" pitchFamily="34" charset="-122"/>
                <a:cs typeface="Cambria" pitchFamily="34" charset="-120"/>
              </a:rPr>
              <a:t>AICTE Patronage</a:t>
            </a:r>
            <a:endParaRPr lang="en-US" sz="1700" dirty="0"/>
          </a:p>
        </p:txBody>
      </p:sp>
      <p:sp>
        <p:nvSpPr>
          <p:cNvPr id="14" name="Text 10"/>
          <p:cNvSpPr/>
          <p:nvPr/>
        </p:nvSpPr>
        <p:spPr>
          <a:xfrm>
            <a:off x="4663440" y="4754880"/>
            <a:ext cx="2971800" cy="548640"/>
          </a:xfrm>
          <a:prstGeom prst="rect">
            <a:avLst/>
          </a:prstGeom>
          <a:noFill/>
          <a:ln/>
        </p:spPr>
        <p:txBody>
          <a:bodyPr wrap="square" lIns="0" tIns="0" rIns="0" bIns="0" rtlCol="0" anchor="ctr"/>
          <a:lstStyle/>
          <a:p>
            <a:pPr algn="ctr" indent="0" marL="0">
              <a:lnSpc>
                <a:spcPts val="1500"/>
              </a:lnSpc>
              <a:buNone/>
            </a:pPr>
            <a:r>
              <a:rPr lang="en-US" sz="1150" dirty="0">
                <a:solidFill>
                  <a:srgbClr val="6B7280"/>
                </a:solidFill>
                <a:latin typeface="Calibri" pitchFamily="34" charset="0"/>
                <a:ea typeface="Calibri" pitchFamily="34" charset="-122"/>
                <a:cs typeface="Calibri" pitchFamily="34" charset="-120"/>
              </a:rPr>
              <a:t>Run under the AICTE National Internship Portal.</a:t>
            </a:r>
            <a:endParaRPr lang="en-US" sz="1150" dirty="0"/>
          </a:p>
        </p:txBody>
      </p:sp>
      <p:sp>
        <p:nvSpPr>
          <p:cNvPr id="15" name="Shape 11"/>
          <p:cNvSpPr/>
          <p:nvPr/>
        </p:nvSpPr>
        <p:spPr>
          <a:xfrm>
            <a:off x="8229600" y="3063240"/>
            <a:ext cx="3520440" cy="2331720"/>
          </a:xfrm>
          <a:prstGeom prst="roundRect">
            <a:avLst>
              <a:gd name="adj" fmla="val 3137"/>
            </a:avLst>
          </a:prstGeom>
          <a:solidFill>
            <a:srgbClr val="FFFFFF"/>
          </a:solidFill>
          <a:ln/>
          <a:effectLst>
            <a:outerShdw sx="100000" sy="100000" kx="0" ky="0" algn="bl" rotWithShape="0" blurRad="101600" dist="38100" dir="5400000">
              <a:srgbClr val="000000">
                <a:alpha val="12000"/>
              </a:srgbClr>
            </a:outerShdw>
          </a:effectLst>
        </p:spPr>
      </p:sp>
      <p:sp>
        <p:nvSpPr>
          <p:cNvPr id="16" name="Shape 12"/>
          <p:cNvSpPr/>
          <p:nvPr/>
        </p:nvSpPr>
        <p:spPr>
          <a:xfrm>
            <a:off x="9578340" y="3429000"/>
            <a:ext cx="822960" cy="822960"/>
          </a:xfrm>
          <a:prstGeom prst="ellipse">
            <a:avLst/>
          </a:prstGeom>
          <a:solidFill>
            <a:srgbClr val="E9EDF7"/>
          </a:solidFill>
          <a:ln/>
        </p:spPr>
      </p:sp>
      <p:pic>
        <p:nvPicPr>
          <p:cNvPr id="17" name="Image 2" descr="icon_cloud_navy.png">    </p:cNvPr>
          <p:cNvPicPr>
            <a:picLocks noChangeAspect="1"/>
          </p:cNvPicPr>
          <p:nvPr/>
        </p:nvPicPr>
        <p:blipFill>
          <a:blip r:embed="rId3"/>
          <a:stretch>
            <a:fillRect/>
          </a:stretch>
        </p:blipFill>
        <p:spPr>
          <a:xfrm>
            <a:off x="9770364" y="3621024"/>
            <a:ext cx="438912" cy="438912"/>
          </a:xfrm>
          <a:prstGeom prst="rect">
            <a:avLst/>
          </a:prstGeom>
        </p:spPr>
      </p:pic>
      <p:sp>
        <p:nvSpPr>
          <p:cNvPr id="18" name="Text 13"/>
          <p:cNvSpPr/>
          <p:nvPr/>
        </p:nvSpPr>
        <p:spPr>
          <a:xfrm>
            <a:off x="8412480" y="4389120"/>
            <a:ext cx="3154680" cy="365760"/>
          </a:xfrm>
          <a:prstGeom prst="rect">
            <a:avLst/>
          </a:prstGeom>
          <a:noFill/>
          <a:ln/>
        </p:spPr>
        <p:txBody>
          <a:bodyPr wrap="square" lIns="0" tIns="0" rIns="0" bIns="0" rtlCol="0" anchor="ctr"/>
          <a:lstStyle/>
          <a:p>
            <a:pPr algn="ctr" indent="0" marL="0">
              <a:buNone/>
            </a:pPr>
            <a:r>
              <a:rPr lang="en-US" sz="1700" b="1" dirty="0">
                <a:solidFill>
                  <a:srgbClr val="1A1A2E"/>
                </a:solidFill>
                <a:latin typeface="Cambria" pitchFamily="34" charset="0"/>
                <a:ea typeface="Cambria" pitchFamily="34" charset="-122"/>
                <a:cs typeface="Cambria" pitchFamily="34" charset="-120"/>
              </a:rPr>
              <a:t>AWS Academy</a:t>
            </a:r>
            <a:endParaRPr lang="en-US" sz="1700" dirty="0"/>
          </a:p>
        </p:txBody>
      </p:sp>
      <p:sp>
        <p:nvSpPr>
          <p:cNvPr id="19" name="Text 14"/>
          <p:cNvSpPr/>
          <p:nvPr/>
        </p:nvSpPr>
        <p:spPr>
          <a:xfrm>
            <a:off x="8503920" y="4754880"/>
            <a:ext cx="2971800" cy="548640"/>
          </a:xfrm>
          <a:prstGeom prst="rect">
            <a:avLst/>
          </a:prstGeom>
          <a:noFill/>
          <a:ln/>
        </p:spPr>
        <p:txBody>
          <a:bodyPr wrap="square" lIns="0" tIns="0" rIns="0" bIns="0" rtlCol="0" anchor="ctr"/>
          <a:lstStyle/>
          <a:p>
            <a:pPr algn="ctr" indent="0" marL="0">
              <a:lnSpc>
                <a:spcPts val="1500"/>
              </a:lnSpc>
              <a:buNone/>
            </a:pPr>
            <a:r>
              <a:rPr lang="en-US" sz="1150" dirty="0">
                <a:solidFill>
                  <a:srgbClr val="6B7280"/>
                </a:solidFill>
                <a:latin typeface="Calibri" pitchFamily="34" charset="0"/>
                <a:ea typeface="Calibri" pitchFamily="34" charset="-122"/>
                <a:cs typeface="Calibri" pitchFamily="34" charset="-120"/>
              </a:rPr>
              <a:t>Industry curriculum delivered via AWS Academy.</a:t>
            </a:r>
            <a:endParaRPr lang="en-US" sz="1150" dirty="0"/>
          </a:p>
        </p:txBody>
      </p:sp>
      <p:sp>
        <p:nvSpPr>
          <p:cNvPr id="20"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21" name="Text 16"/>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lIns="0" tIns="0" rIns="0" bIns="0" rtlCol="0" anchor="ctr"/>
          <a:lstStyle/>
          <a:p>
            <a:pPr indent="0" marL="0">
              <a:buNone/>
            </a:pPr>
            <a:r>
              <a:rPr lang="en-US" sz="1200" b="1" spc="200" kern="0" dirty="0">
                <a:solidFill>
                  <a:srgbClr val="1B2450"/>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02920" y="777240"/>
            <a:ext cx="10972800" cy="64008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Bridging Theory and Applied Cloud AI</a:t>
            </a:r>
            <a:endParaRPr lang="en-US" sz="3000" dirty="0"/>
          </a:p>
        </p:txBody>
      </p:sp>
      <p:sp>
        <p:nvSpPr>
          <p:cNvPr id="4" name="Shape 2"/>
          <p:cNvSpPr/>
          <p:nvPr/>
        </p:nvSpPr>
        <p:spPr>
          <a:xfrm>
            <a:off x="548640" y="1600200"/>
            <a:ext cx="11064240" cy="1417320"/>
          </a:xfrm>
          <a:prstGeom prst="roundRect">
            <a:avLst>
              <a:gd name="adj" fmla="val 3871"/>
            </a:avLst>
          </a:prstGeom>
          <a:solidFill>
            <a:srgbClr val="EEF1FA"/>
          </a:solidFill>
          <a:ln/>
        </p:spPr>
      </p:sp>
      <p:sp>
        <p:nvSpPr>
          <p:cNvPr id="5" name="Text 3"/>
          <p:cNvSpPr/>
          <p:nvPr/>
        </p:nvSpPr>
        <p:spPr>
          <a:xfrm>
            <a:off x="822960" y="1783080"/>
            <a:ext cx="10515600" cy="1097280"/>
          </a:xfrm>
          <a:prstGeom prst="rect">
            <a:avLst/>
          </a:prstGeom>
          <a:noFill/>
          <a:ln/>
        </p:spPr>
        <p:txBody>
          <a:bodyPr wrap="square" lIns="0" tIns="0" rIns="0" bIns="0" rtlCol="0" anchor="ctr"/>
          <a:lstStyle/>
          <a:p>
            <a:pPr indent="0" marL="0">
              <a:lnSpc>
                <a:spcPts val="2000"/>
              </a:lnSpc>
              <a:buNone/>
            </a:pPr>
            <a:r>
              <a:rPr lang="en-US" sz="1350" dirty="0">
                <a:solidFill>
                  <a:srgbClr val="3A3F55"/>
                </a:solidFill>
                <a:latin typeface="Calibri" pitchFamily="34" charset="0"/>
                <a:ea typeface="Calibri" pitchFamily="34" charset="-122"/>
                <a:cs typeface="Calibri" pitchFamily="34" charset="-120"/>
              </a:rPr>
              <a:t>Although many engineering students learn the theoretical foundations of machine learning during coursework, very few get structured, hands-on exposure to building and training models on an industry-standard cloud platform such as Amazon Web Services. Concepts such as managed forecasting, computer vision, NLP, and Generative AI are often understood only theoretically — with little practice using cloud-based tools or applying prompt engineering and responsible-AI principles.</a:t>
            </a:r>
            <a:endParaRPr lang="en-US" sz="1350" dirty="0"/>
          </a:p>
        </p:txBody>
      </p:sp>
      <p:sp>
        <p:nvSpPr>
          <p:cNvPr id="6" name="Text 4"/>
          <p:cNvSpPr/>
          <p:nvPr/>
        </p:nvSpPr>
        <p:spPr>
          <a:xfrm>
            <a:off x="548640" y="3246120"/>
            <a:ext cx="10972800" cy="365760"/>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This internship addressed that gap — practically learning the full AWS-based ML &amp; Gen AI workflow:</a:t>
            </a:r>
            <a:endParaRPr lang="en-US" sz="1400" dirty="0"/>
          </a:p>
        </p:txBody>
      </p:sp>
      <p:sp>
        <p:nvSpPr>
          <p:cNvPr id="7" name="Shape 5"/>
          <p:cNvSpPr/>
          <p:nvPr/>
        </p:nvSpPr>
        <p:spPr>
          <a:xfrm>
            <a:off x="548640" y="3886200"/>
            <a:ext cx="2331720" cy="1051560"/>
          </a:xfrm>
          <a:prstGeom prst="roundRect">
            <a:avLst>
              <a:gd name="adj" fmla="val 6957"/>
            </a:avLst>
          </a:prstGeom>
          <a:solidFill>
            <a:srgbClr val="1B2450"/>
          </a:solidFill>
          <a:ln/>
        </p:spPr>
      </p:sp>
      <p:pic>
        <p:nvPicPr>
          <p:cNvPr id="8" name="Image 0" descr="icon_brain.png">    </p:cNvPr>
          <p:cNvPicPr>
            <a:picLocks noChangeAspect="1"/>
          </p:cNvPicPr>
          <p:nvPr/>
        </p:nvPicPr>
        <p:blipFill>
          <a:blip r:embed="rId1"/>
          <a:stretch>
            <a:fillRect/>
          </a:stretch>
        </p:blipFill>
        <p:spPr>
          <a:xfrm>
            <a:off x="1513332" y="4050792"/>
            <a:ext cx="402336" cy="402336"/>
          </a:xfrm>
          <a:prstGeom prst="rect">
            <a:avLst/>
          </a:prstGeom>
        </p:spPr>
      </p:pic>
      <p:sp>
        <p:nvSpPr>
          <p:cNvPr id="9" name="Text 6"/>
          <p:cNvSpPr/>
          <p:nvPr/>
        </p:nvSpPr>
        <p:spPr>
          <a:xfrm>
            <a:off x="640080" y="4507992"/>
            <a:ext cx="214884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Train with SageMaker</a:t>
            </a:r>
            <a:endParaRPr lang="en-US" sz="1250" dirty="0"/>
          </a:p>
        </p:txBody>
      </p:sp>
      <p:sp>
        <p:nvSpPr>
          <p:cNvPr id="10" name="Text 7"/>
          <p:cNvSpPr/>
          <p:nvPr/>
        </p:nvSpPr>
        <p:spPr>
          <a:xfrm>
            <a:off x="2907792" y="4142232"/>
            <a:ext cx="448056" cy="50292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3383280" y="3886200"/>
            <a:ext cx="2331720" cy="1051560"/>
          </a:xfrm>
          <a:prstGeom prst="roundRect">
            <a:avLst>
              <a:gd name="adj" fmla="val 6957"/>
            </a:avLst>
          </a:prstGeom>
          <a:solidFill>
            <a:srgbClr val="1B2450"/>
          </a:solidFill>
          <a:ln/>
        </p:spPr>
      </p:sp>
      <p:pic>
        <p:nvPicPr>
          <p:cNvPr id="12" name="Image 1" descr="icon_eye.png">    </p:cNvPr>
          <p:cNvPicPr>
            <a:picLocks noChangeAspect="1"/>
          </p:cNvPicPr>
          <p:nvPr/>
        </p:nvPicPr>
        <p:blipFill>
          <a:blip r:embed="rId2"/>
          <a:stretch>
            <a:fillRect/>
          </a:stretch>
        </p:blipFill>
        <p:spPr>
          <a:xfrm>
            <a:off x="4347972" y="4050792"/>
            <a:ext cx="402336" cy="402336"/>
          </a:xfrm>
          <a:prstGeom prst="rect">
            <a:avLst/>
          </a:prstGeom>
        </p:spPr>
      </p:pic>
      <p:sp>
        <p:nvSpPr>
          <p:cNvPr id="13" name="Text 9"/>
          <p:cNvSpPr/>
          <p:nvPr/>
        </p:nvSpPr>
        <p:spPr>
          <a:xfrm>
            <a:off x="3474720" y="4507992"/>
            <a:ext cx="214884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Vision &amp; NLP</a:t>
            </a:r>
            <a:endParaRPr lang="en-US" sz="1250" dirty="0"/>
          </a:p>
        </p:txBody>
      </p:sp>
      <p:sp>
        <p:nvSpPr>
          <p:cNvPr id="14" name="Text 10"/>
          <p:cNvSpPr/>
          <p:nvPr/>
        </p:nvSpPr>
        <p:spPr>
          <a:xfrm>
            <a:off x="5742432" y="4142232"/>
            <a:ext cx="448056" cy="50292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5" name="Shape 11"/>
          <p:cNvSpPr/>
          <p:nvPr/>
        </p:nvSpPr>
        <p:spPr>
          <a:xfrm>
            <a:off x="6217920" y="3886200"/>
            <a:ext cx="2331720" cy="1051560"/>
          </a:xfrm>
          <a:prstGeom prst="roundRect">
            <a:avLst>
              <a:gd name="adj" fmla="val 6957"/>
            </a:avLst>
          </a:prstGeom>
          <a:solidFill>
            <a:srgbClr val="1B2450"/>
          </a:solidFill>
          <a:ln/>
        </p:spPr>
      </p:sp>
      <p:pic>
        <p:nvPicPr>
          <p:cNvPr id="16" name="Image 2" descr="icon_robot.png">    </p:cNvPr>
          <p:cNvPicPr>
            <a:picLocks noChangeAspect="1"/>
          </p:cNvPicPr>
          <p:nvPr/>
        </p:nvPicPr>
        <p:blipFill>
          <a:blip r:embed="rId3"/>
          <a:stretch>
            <a:fillRect/>
          </a:stretch>
        </p:blipFill>
        <p:spPr>
          <a:xfrm>
            <a:off x="7182612" y="4050792"/>
            <a:ext cx="402336" cy="402336"/>
          </a:xfrm>
          <a:prstGeom prst="rect">
            <a:avLst/>
          </a:prstGeom>
        </p:spPr>
      </p:pic>
      <p:sp>
        <p:nvSpPr>
          <p:cNvPr id="17" name="Text 12"/>
          <p:cNvSpPr/>
          <p:nvPr/>
        </p:nvSpPr>
        <p:spPr>
          <a:xfrm>
            <a:off x="6309360" y="4507992"/>
            <a:ext cx="214884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Apply Generative AI</a:t>
            </a:r>
            <a:endParaRPr lang="en-US" sz="1250" dirty="0"/>
          </a:p>
        </p:txBody>
      </p:sp>
      <p:sp>
        <p:nvSpPr>
          <p:cNvPr id="18" name="Text 13"/>
          <p:cNvSpPr/>
          <p:nvPr/>
        </p:nvSpPr>
        <p:spPr>
          <a:xfrm>
            <a:off x="8577072" y="4142232"/>
            <a:ext cx="448056" cy="502920"/>
          </a:xfrm>
          <a:prstGeom prst="rect">
            <a:avLst/>
          </a:prstGeom>
          <a:noFill/>
          <a:ln/>
        </p:spPr>
        <p:txBody>
          <a:bodyPr wrap="square" lIns="0" tIns="0" rIns="0" bIns="0" rtlCol="0" anchor="ctr"/>
          <a:lstStyle/>
          <a:p>
            <a:pPr algn="ctr" indent="0" marL="0">
              <a:buNone/>
            </a:pPr>
            <a:r>
              <a:rPr lang="en-US" sz="2200" b="1" dirty="0">
                <a:solidFill>
                  <a:srgbClr val="E8A33D"/>
                </a:solidFill>
                <a:latin typeface="Calibri" pitchFamily="34" charset="0"/>
                <a:ea typeface="Calibri" pitchFamily="34" charset="-122"/>
                <a:cs typeface="Calibri" pitchFamily="34" charset="-120"/>
              </a:rPr>
              <a:t>→</a:t>
            </a:r>
            <a:endParaRPr lang="en-US" sz="2200" dirty="0"/>
          </a:p>
        </p:txBody>
      </p:sp>
      <p:sp>
        <p:nvSpPr>
          <p:cNvPr id="19" name="Shape 14"/>
          <p:cNvSpPr/>
          <p:nvPr/>
        </p:nvSpPr>
        <p:spPr>
          <a:xfrm>
            <a:off x="9052560" y="3886200"/>
            <a:ext cx="2331720" cy="1051560"/>
          </a:xfrm>
          <a:prstGeom prst="roundRect">
            <a:avLst>
              <a:gd name="adj" fmla="val 6957"/>
            </a:avLst>
          </a:prstGeom>
          <a:solidFill>
            <a:srgbClr val="1B2450"/>
          </a:solidFill>
          <a:ln/>
        </p:spPr>
      </p:sp>
      <p:pic>
        <p:nvPicPr>
          <p:cNvPr id="20" name="Image 3" descr="icon_shield.png">    </p:cNvPr>
          <p:cNvPicPr>
            <a:picLocks noChangeAspect="1"/>
          </p:cNvPicPr>
          <p:nvPr/>
        </p:nvPicPr>
        <p:blipFill>
          <a:blip r:embed="rId4"/>
          <a:stretch>
            <a:fillRect/>
          </a:stretch>
        </p:blipFill>
        <p:spPr>
          <a:xfrm>
            <a:off x="10017252" y="4050792"/>
            <a:ext cx="402336" cy="402336"/>
          </a:xfrm>
          <a:prstGeom prst="rect">
            <a:avLst/>
          </a:prstGeom>
        </p:spPr>
      </p:pic>
      <p:sp>
        <p:nvSpPr>
          <p:cNvPr id="21" name="Text 15"/>
          <p:cNvSpPr/>
          <p:nvPr/>
        </p:nvSpPr>
        <p:spPr>
          <a:xfrm>
            <a:off x="9144000" y="4507992"/>
            <a:ext cx="214884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Govern Responsibly</a:t>
            </a:r>
            <a:endParaRPr lang="en-US" sz="1250" dirty="0"/>
          </a:p>
        </p:txBody>
      </p:sp>
      <p:sp>
        <p:nvSpPr>
          <p:cNvPr id="22" name="Text 1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23" name="Text 17"/>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200" b="1" spc="200" kern="0" dirty="0">
                <a:solidFill>
                  <a:srgbClr val="C77D12"/>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02920" y="731520"/>
            <a:ext cx="10972800" cy="640080"/>
          </a:xfrm>
          <a:prstGeom prst="rect">
            <a:avLst/>
          </a:prstGeom>
          <a:noFill/>
          <a:ln/>
        </p:spPr>
        <p:txBody>
          <a:bodyPr wrap="square" lIns="0" tIns="0" rIns="0" bIns="0" rtlCol="0" anchor="ctr"/>
          <a:lstStyle/>
          <a:p>
            <a:pPr indent="0" marL="0">
              <a:buNone/>
            </a:pPr>
            <a:r>
              <a:rPr lang="en-US" sz="2800" b="1" dirty="0">
                <a:solidFill>
                  <a:srgbClr val="1A1A2E"/>
                </a:solidFill>
                <a:latin typeface="Cambria" pitchFamily="34" charset="0"/>
                <a:ea typeface="Cambria" pitchFamily="34" charset="-122"/>
                <a:cs typeface="Cambria" pitchFamily="34" charset="-120"/>
              </a:rPr>
              <a:t>What the Internship Set Out to Achieve</a:t>
            </a:r>
            <a:endParaRPr lang="en-US" sz="2800" dirty="0"/>
          </a:p>
        </p:txBody>
      </p:sp>
      <p:sp>
        <p:nvSpPr>
          <p:cNvPr id="4" name="Shape 2"/>
          <p:cNvSpPr/>
          <p:nvPr/>
        </p:nvSpPr>
        <p:spPr>
          <a:xfrm>
            <a:off x="548640" y="160020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5" name="Shape 3"/>
          <p:cNvSpPr/>
          <p:nvPr/>
        </p:nvSpPr>
        <p:spPr>
          <a:xfrm>
            <a:off x="777240" y="1828800"/>
            <a:ext cx="502920" cy="502920"/>
          </a:xfrm>
          <a:prstGeom prst="ellipse">
            <a:avLst/>
          </a:prstGeom>
          <a:solidFill>
            <a:srgbClr val="E9EDF7"/>
          </a:solidFill>
          <a:ln/>
        </p:spPr>
      </p:sp>
      <p:pic>
        <p:nvPicPr>
          <p:cNvPr id="6" name="Image 0" descr="icon_brain_navy.png">    </p:cNvPr>
          <p:cNvPicPr>
            <a:picLocks noChangeAspect="1"/>
          </p:cNvPicPr>
          <p:nvPr/>
        </p:nvPicPr>
        <p:blipFill>
          <a:blip r:embed="rId1"/>
          <a:stretch>
            <a:fillRect/>
          </a:stretch>
        </p:blipFill>
        <p:spPr>
          <a:xfrm>
            <a:off x="905256" y="1956816"/>
            <a:ext cx="246888" cy="246888"/>
          </a:xfrm>
          <a:prstGeom prst="rect">
            <a:avLst/>
          </a:prstGeom>
        </p:spPr>
      </p:pic>
      <p:sp>
        <p:nvSpPr>
          <p:cNvPr id="7" name="Text 4"/>
          <p:cNvSpPr/>
          <p:nvPr/>
        </p:nvSpPr>
        <p:spPr>
          <a:xfrm>
            <a:off x="1417320" y="180136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ML with SageMaker</a:t>
            </a:r>
            <a:endParaRPr lang="en-US" sz="1450" dirty="0"/>
          </a:p>
        </p:txBody>
      </p:sp>
      <p:sp>
        <p:nvSpPr>
          <p:cNvPr id="8" name="Text 5"/>
          <p:cNvSpPr/>
          <p:nvPr/>
        </p:nvSpPr>
        <p:spPr>
          <a:xfrm>
            <a:off x="777240" y="246888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Solve ML problems and train models using Amazon SageMaker and XGBoost.</a:t>
            </a:r>
            <a:endParaRPr lang="en-US" sz="1050" dirty="0"/>
          </a:p>
        </p:txBody>
      </p:sp>
      <p:sp>
        <p:nvSpPr>
          <p:cNvPr id="9" name="Shape 6"/>
          <p:cNvSpPr/>
          <p:nvPr/>
        </p:nvSpPr>
        <p:spPr>
          <a:xfrm>
            <a:off x="4389120" y="160020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10" name="Shape 7"/>
          <p:cNvSpPr/>
          <p:nvPr/>
        </p:nvSpPr>
        <p:spPr>
          <a:xfrm>
            <a:off x="4617720" y="1828800"/>
            <a:ext cx="502920" cy="502920"/>
          </a:xfrm>
          <a:prstGeom prst="ellipse">
            <a:avLst/>
          </a:prstGeom>
          <a:solidFill>
            <a:srgbClr val="E9EDF7"/>
          </a:solidFill>
          <a:ln/>
        </p:spPr>
      </p:sp>
      <p:pic>
        <p:nvPicPr>
          <p:cNvPr id="11" name="Image 1" descr="icon_eye_navy.png">    </p:cNvPr>
          <p:cNvPicPr>
            <a:picLocks noChangeAspect="1"/>
          </p:cNvPicPr>
          <p:nvPr/>
        </p:nvPicPr>
        <p:blipFill>
          <a:blip r:embed="rId2"/>
          <a:stretch>
            <a:fillRect/>
          </a:stretch>
        </p:blipFill>
        <p:spPr>
          <a:xfrm>
            <a:off x="4745736" y="1956816"/>
            <a:ext cx="246888" cy="246888"/>
          </a:xfrm>
          <a:prstGeom prst="rect">
            <a:avLst/>
          </a:prstGeom>
        </p:spPr>
      </p:pic>
      <p:sp>
        <p:nvSpPr>
          <p:cNvPr id="12" name="Text 8"/>
          <p:cNvSpPr/>
          <p:nvPr/>
        </p:nvSpPr>
        <p:spPr>
          <a:xfrm>
            <a:off x="5257800" y="180136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Computer Vision</a:t>
            </a:r>
            <a:endParaRPr lang="en-US" sz="1450" dirty="0"/>
          </a:p>
        </p:txBody>
      </p:sp>
      <p:sp>
        <p:nvSpPr>
          <p:cNvPr id="13" name="Text 9"/>
          <p:cNvSpPr/>
          <p:nvPr/>
        </p:nvSpPr>
        <p:spPr>
          <a:xfrm>
            <a:off x="4617720" y="246888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Explore computer vision for image and video analysis, and forecasting with managed services.</a:t>
            </a:r>
            <a:endParaRPr lang="en-US" sz="1050" dirty="0"/>
          </a:p>
        </p:txBody>
      </p:sp>
      <p:sp>
        <p:nvSpPr>
          <p:cNvPr id="14" name="Shape 10"/>
          <p:cNvSpPr/>
          <p:nvPr/>
        </p:nvSpPr>
        <p:spPr>
          <a:xfrm>
            <a:off x="8229600" y="160020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15" name="Shape 11"/>
          <p:cNvSpPr/>
          <p:nvPr/>
        </p:nvSpPr>
        <p:spPr>
          <a:xfrm>
            <a:off x="8458200" y="1828800"/>
            <a:ext cx="502920" cy="502920"/>
          </a:xfrm>
          <a:prstGeom prst="ellipse">
            <a:avLst/>
          </a:prstGeom>
          <a:solidFill>
            <a:srgbClr val="E9EDF7"/>
          </a:solidFill>
          <a:ln/>
        </p:spPr>
      </p:sp>
      <p:pic>
        <p:nvPicPr>
          <p:cNvPr id="16" name="Image 2" descr="icon_chart_navy.png">    </p:cNvPr>
          <p:cNvPicPr>
            <a:picLocks noChangeAspect="1"/>
          </p:cNvPicPr>
          <p:nvPr/>
        </p:nvPicPr>
        <p:blipFill>
          <a:blip r:embed="rId3"/>
          <a:stretch>
            <a:fillRect/>
          </a:stretch>
        </p:blipFill>
        <p:spPr>
          <a:xfrm>
            <a:off x="8586216" y="1956816"/>
            <a:ext cx="246888" cy="246888"/>
          </a:xfrm>
          <a:prstGeom prst="rect">
            <a:avLst/>
          </a:prstGeom>
        </p:spPr>
      </p:pic>
      <p:sp>
        <p:nvSpPr>
          <p:cNvPr id="17" name="Text 12"/>
          <p:cNvSpPr/>
          <p:nvPr/>
        </p:nvSpPr>
        <p:spPr>
          <a:xfrm>
            <a:off x="9098280" y="180136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NLP Fundamentals</a:t>
            </a:r>
            <a:endParaRPr lang="en-US" sz="1450" dirty="0"/>
          </a:p>
        </p:txBody>
      </p:sp>
      <p:sp>
        <p:nvSpPr>
          <p:cNvPr id="18" name="Text 13"/>
          <p:cNvSpPr/>
          <p:nvPr/>
        </p:nvSpPr>
        <p:spPr>
          <a:xfrm>
            <a:off x="8458200" y="246888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Learn text processing, sentiment analysis, information extraction, and topic modeling.</a:t>
            </a:r>
            <a:endParaRPr lang="en-US" sz="1050" dirty="0"/>
          </a:p>
        </p:txBody>
      </p:sp>
      <p:sp>
        <p:nvSpPr>
          <p:cNvPr id="19" name="Shape 14"/>
          <p:cNvSpPr/>
          <p:nvPr/>
        </p:nvSpPr>
        <p:spPr>
          <a:xfrm>
            <a:off x="548640" y="356616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20" name="Shape 15"/>
          <p:cNvSpPr/>
          <p:nvPr/>
        </p:nvSpPr>
        <p:spPr>
          <a:xfrm>
            <a:off x="777240" y="3794760"/>
            <a:ext cx="502920" cy="502920"/>
          </a:xfrm>
          <a:prstGeom prst="ellipse">
            <a:avLst/>
          </a:prstGeom>
          <a:solidFill>
            <a:srgbClr val="E9EDF7"/>
          </a:solidFill>
          <a:ln/>
        </p:spPr>
      </p:sp>
      <p:pic>
        <p:nvPicPr>
          <p:cNvPr id="21" name="Image 3" descr="icon_robot_navy.png">    </p:cNvPr>
          <p:cNvPicPr>
            <a:picLocks noChangeAspect="1"/>
          </p:cNvPicPr>
          <p:nvPr/>
        </p:nvPicPr>
        <p:blipFill>
          <a:blip r:embed="rId4"/>
          <a:stretch>
            <a:fillRect/>
          </a:stretch>
        </p:blipFill>
        <p:spPr>
          <a:xfrm>
            <a:off x="905256" y="3922776"/>
            <a:ext cx="246888" cy="246888"/>
          </a:xfrm>
          <a:prstGeom prst="rect">
            <a:avLst/>
          </a:prstGeom>
        </p:spPr>
      </p:pic>
      <p:sp>
        <p:nvSpPr>
          <p:cNvPr id="22" name="Text 16"/>
          <p:cNvSpPr/>
          <p:nvPr/>
        </p:nvSpPr>
        <p:spPr>
          <a:xfrm>
            <a:off x="1417320" y="376732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Generative AI</a:t>
            </a:r>
            <a:endParaRPr lang="en-US" sz="1450" dirty="0"/>
          </a:p>
        </p:txBody>
      </p:sp>
      <p:sp>
        <p:nvSpPr>
          <p:cNvPr id="23" name="Text 17"/>
          <p:cNvSpPr/>
          <p:nvPr/>
        </p:nvSpPr>
        <p:spPr>
          <a:xfrm>
            <a:off x="777240" y="443484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Explore prompts, prompt engineering, and foundation models with AWS Academy.</a:t>
            </a:r>
            <a:endParaRPr lang="en-US" sz="1050" dirty="0"/>
          </a:p>
        </p:txBody>
      </p:sp>
      <p:sp>
        <p:nvSpPr>
          <p:cNvPr id="24" name="Shape 18"/>
          <p:cNvSpPr/>
          <p:nvPr/>
        </p:nvSpPr>
        <p:spPr>
          <a:xfrm>
            <a:off x="4389120" y="356616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25" name="Shape 19"/>
          <p:cNvSpPr/>
          <p:nvPr/>
        </p:nvSpPr>
        <p:spPr>
          <a:xfrm>
            <a:off x="4617720" y="3794760"/>
            <a:ext cx="502920" cy="502920"/>
          </a:xfrm>
          <a:prstGeom prst="ellipse">
            <a:avLst/>
          </a:prstGeom>
          <a:solidFill>
            <a:srgbClr val="E9EDF7"/>
          </a:solidFill>
          <a:ln/>
        </p:spPr>
      </p:sp>
      <p:pic>
        <p:nvPicPr>
          <p:cNvPr id="26" name="Image 4" descr="icon_shield_navy.png">    </p:cNvPr>
          <p:cNvPicPr>
            <a:picLocks noChangeAspect="1"/>
          </p:cNvPicPr>
          <p:nvPr/>
        </p:nvPicPr>
        <p:blipFill>
          <a:blip r:embed="rId5"/>
          <a:stretch>
            <a:fillRect/>
          </a:stretch>
        </p:blipFill>
        <p:spPr>
          <a:xfrm>
            <a:off x="4745736" y="3922776"/>
            <a:ext cx="246888" cy="246888"/>
          </a:xfrm>
          <a:prstGeom prst="rect">
            <a:avLst/>
          </a:prstGeom>
        </p:spPr>
      </p:pic>
      <p:sp>
        <p:nvSpPr>
          <p:cNvPr id="27" name="Text 20"/>
          <p:cNvSpPr/>
          <p:nvPr/>
        </p:nvSpPr>
        <p:spPr>
          <a:xfrm>
            <a:off x="5257800" y="376732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Responsible AI</a:t>
            </a:r>
            <a:endParaRPr lang="en-US" sz="1450" dirty="0"/>
          </a:p>
        </p:txBody>
      </p:sp>
      <p:sp>
        <p:nvSpPr>
          <p:cNvPr id="28" name="Text 21"/>
          <p:cNvSpPr/>
          <p:nvPr/>
        </p:nvSpPr>
        <p:spPr>
          <a:xfrm>
            <a:off x="4617720" y="443484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Understand security, governance, and compliance for using Generative AI responsibly.</a:t>
            </a:r>
            <a:endParaRPr lang="en-US" sz="1050" dirty="0"/>
          </a:p>
        </p:txBody>
      </p:sp>
      <p:sp>
        <p:nvSpPr>
          <p:cNvPr id="29" name="Shape 22"/>
          <p:cNvSpPr/>
          <p:nvPr/>
        </p:nvSpPr>
        <p:spPr>
          <a:xfrm>
            <a:off x="8229600" y="3566160"/>
            <a:ext cx="3520440" cy="1691640"/>
          </a:xfrm>
          <a:prstGeom prst="roundRect">
            <a:avLst>
              <a:gd name="adj" fmla="val 3784"/>
            </a:avLst>
          </a:prstGeom>
          <a:solidFill>
            <a:srgbClr val="FFFFFF"/>
          </a:solidFill>
          <a:ln/>
          <a:effectLst>
            <a:outerShdw sx="100000" sy="100000" kx="0" ky="0" algn="bl" rotWithShape="0" blurRad="88900" dist="25400" dir="5400000">
              <a:srgbClr val="000000">
                <a:alpha val="10000"/>
              </a:srgbClr>
            </a:outerShdw>
          </a:effectLst>
        </p:spPr>
      </p:sp>
      <p:sp>
        <p:nvSpPr>
          <p:cNvPr id="30" name="Shape 23"/>
          <p:cNvSpPr/>
          <p:nvPr/>
        </p:nvSpPr>
        <p:spPr>
          <a:xfrm>
            <a:off x="8458200" y="3794760"/>
            <a:ext cx="502920" cy="502920"/>
          </a:xfrm>
          <a:prstGeom prst="ellipse">
            <a:avLst/>
          </a:prstGeom>
          <a:solidFill>
            <a:srgbClr val="E9EDF7"/>
          </a:solidFill>
          <a:ln/>
        </p:spPr>
      </p:sp>
      <p:pic>
        <p:nvPicPr>
          <p:cNvPr id="31" name="Image 5" descr="icon_flag_navy.png">    </p:cNvPr>
          <p:cNvPicPr>
            <a:picLocks noChangeAspect="1"/>
          </p:cNvPicPr>
          <p:nvPr/>
        </p:nvPicPr>
        <p:blipFill>
          <a:blip r:embed="rId6"/>
          <a:stretch>
            <a:fillRect/>
          </a:stretch>
        </p:blipFill>
        <p:spPr>
          <a:xfrm>
            <a:off x="8586216" y="3922776"/>
            <a:ext cx="246888" cy="246888"/>
          </a:xfrm>
          <a:prstGeom prst="rect">
            <a:avLst/>
          </a:prstGeom>
        </p:spPr>
      </p:pic>
      <p:sp>
        <p:nvSpPr>
          <p:cNvPr id="32" name="Text 24"/>
          <p:cNvSpPr/>
          <p:nvPr/>
        </p:nvSpPr>
        <p:spPr>
          <a:xfrm>
            <a:off x="9098280" y="3767328"/>
            <a:ext cx="2514600" cy="548640"/>
          </a:xfrm>
          <a:prstGeom prst="rect">
            <a:avLst/>
          </a:prstGeom>
          <a:noFill/>
          <a:ln/>
        </p:spPr>
        <p:txBody>
          <a:bodyPr wrap="square" lIns="0" tIns="0" rIns="0" bIns="0" rtlCol="0" anchor="ctr"/>
          <a:lstStyle/>
          <a:p>
            <a:pPr indent="0" marL="0">
              <a:buNone/>
            </a:pPr>
            <a:r>
              <a:rPr lang="en-US" sz="1450" b="1" dirty="0">
                <a:solidFill>
                  <a:srgbClr val="1A1A2E"/>
                </a:solidFill>
                <a:latin typeface="Cambria" pitchFamily="34" charset="0"/>
                <a:ea typeface="Cambria" pitchFamily="34" charset="-122"/>
                <a:cs typeface="Cambria" pitchFamily="34" charset="-120"/>
              </a:rPr>
              <a:t>Final Assessment</a:t>
            </a:r>
            <a:endParaRPr lang="en-US" sz="1450" dirty="0"/>
          </a:p>
        </p:txBody>
      </p:sp>
      <p:sp>
        <p:nvSpPr>
          <p:cNvPr id="33" name="Text 25"/>
          <p:cNvSpPr/>
          <p:nvPr/>
        </p:nvSpPr>
        <p:spPr>
          <a:xfrm>
            <a:off x="8458200" y="4434840"/>
            <a:ext cx="3063240" cy="731520"/>
          </a:xfrm>
          <a:prstGeom prst="rect">
            <a:avLst/>
          </a:prstGeom>
          <a:noFill/>
          <a:ln/>
        </p:spPr>
        <p:txBody>
          <a:bodyPr wrap="square" lIns="0" tIns="0" rIns="0" bIns="0" rtlCol="0" anchor="ctr"/>
          <a:lstStyle/>
          <a:p>
            <a:pPr indent="0" marL="0">
              <a:lnSpc>
                <a:spcPts val="1300"/>
              </a:lnSpc>
              <a:buNone/>
            </a:pPr>
            <a:r>
              <a:rPr lang="en-US" sz="1050" dirty="0">
                <a:solidFill>
                  <a:srgbClr val="6B7280"/>
                </a:solidFill>
                <a:latin typeface="Calibri" pitchFamily="34" charset="0"/>
                <a:ea typeface="Calibri" pitchFamily="34" charset="-122"/>
                <a:cs typeface="Calibri" pitchFamily="34" charset="-120"/>
              </a:rPr>
              <a:t>Clear the Final Assessment Test and Internship Grade Point Assessment.</a:t>
            </a:r>
            <a:endParaRPr lang="en-US" sz="1050" dirty="0"/>
          </a:p>
        </p:txBody>
      </p:sp>
      <p:sp>
        <p:nvSpPr>
          <p:cNvPr id="34" name="Text 2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35" name="Text 27"/>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200" b="1" spc="200" kern="0" dirty="0">
                <a:solidFill>
                  <a:srgbClr val="1B2450"/>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502920" y="731520"/>
            <a:ext cx="10972800" cy="64008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Toolkit Behind the Internship</a:t>
            </a:r>
            <a:endParaRPr lang="en-US" sz="3000" dirty="0"/>
          </a:p>
        </p:txBody>
      </p:sp>
      <p:sp>
        <p:nvSpPr>
          <p:cNvPr id="4" name="Shape 2"/>
          <p:cNvSpPr/>
          <p:nvPr/>
        </p:nvSpPr>
        <p:spPr>
          <a:xfrm>
            <a:off x="548640" y="1645920"/>
            <a:ext cx="2606040" cy="1965960"/>
          </a:xfrm>
          <a:prstGeom prst="roundRect">
            <a:avLst>
              <a:gd name="adj" fmla="val 2791"/>
            </a:avLst>
          </a:prstGeom>
          <a:solidFill>
            <a:srgbClr val="EEF1FA"/>
          </a:solidFill>
          <a:ln/>
        </p:spPr>
      </p:sp>
      <p:sp>
        <p:nvSpPr>
          <p:cNvPr id="5" name="Shape 3"/>
          <p:cNvSpPr/>
          <p:nvPr/>
        </p:nvSpPr>
        <p:spPr>
          <a:xfrm>
            <a:off x="1485900" y="1901952"/>
            <a:ext cx="731520" cy="731520"/>
          </a:xfrm>
          <a:prstGeom prst="ellipse">
            <a:avLst/>
          </a:prstGeom>
          <a:solidFill>
            <a:srgbClr val="FFFFFF"/>
          </a:solidFill>
          <a:ln/>
        </p:spPr>
      </p:sp>
      <p:pic>
        <p:nvPicPr>
          <p:cNvPr id="6" name="Image 0" descr="icon_cloud_navy.png">    </p:cNvPr>
          <p:cNvPicPr>
            <a:picLocks noChangeAspect="1"/>
          </p:cNvPicPr>
          <p:nvPr/>
        </p:nvPicPr>
        <p:blipFill>
          <a:blip r:embed="rId1"/>
          <a:stretch>
            <a:fillRect/>
          </a:stretch>
        </p:blipFill>
        <p:spPr>
          <a:xfrm>
            <a:off x="1659636" y="2075688"/>
            <a:ext cx="384048" cy="384048"/>
          </a:xfrm>
          <a:prstGeom prst="rect">
            <a:avLst/>
          </a:prstGeom>
        </p:spPr>
      </p:pic>
      <p:sp>
        <p:nvSpPr>
          <p:cNvPr id="7" name="Text 4"/>
          <p:cNvSpPr/>
          <p:nvPr/>
        </p:nvSpPr>
        <p:spPr>
          <a:xfrm>
            <a:off x="685800" y="274320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Amazon SageMaker</a:t>
            </a:r>
            <a:endParaRPr lang="en-US" sz="1300" dirty="0"/>
          </a:p>
        </p:txBody>
      </p:sp>
      <p:sp>
        <p:nvSpPr>
          <p:cNvPr id="8" name="Text 5"/>
          <p:cNvSpPr/>
          <p:nvPr/>
        </p:nvSpPr>
        <p:spPr>
          <a:xfrm>
            <a:off x="685800" y="321868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ML problem-solving &amp; training</a:t>
            </a:r>
            <a:endParaRPr lang="en-US" sz="1000" dirty="0"/>
          </a:p>
        </p:txBody>
      </p:sp>
      <p:sp>
        <p:nvSpPr>
          <p:cNvPr id="9" name="Shape 6"/>
          <p:cNvSpPr/>
          <p:nvPr/>
        </p:nvSpPr>
        <p:spPr>
          <a:xfrm>
            <a:off x="3383280" y="1645920"/>
            <a:ext cx="2606040" cy="1965960"/>
          </a:xfrm>
          <a:prstGeom prst="roundRect">
            <a:avLst>
              <a:gd name="adj" fmla="val 2791"/>
            </a:avLst>
          </a:prstGeom>
          <a:solidFill>
            <a:srgbClr val="EEF1FA"/>
          </a:solidFill>
          <a:ln/>
        </p:spPr>
      </p:sp>
      <p:sp>
        <p:nvSpPr>
          <p:cNvPr id="10" name="Shape 7"/>
          <p:cNvSpPr/>
          <p:nvPr/>
        </p:nvSpPr>
        <p:spPr>
          <a:xfrm>
            <a:off x="4320540" y="1901952"/>
            <a:ext cx="731520" cy="731520"/>
          </a:xfrm>
          <a:prstGeom prst="ellipse">
            <a:avLst/>
          </a:prstGeom>
          <a:solidFill>
            <a:srgbClr val="FFFFFF"/>
          </a:solidFill>
          <a:ln/>
        </p:spPr>
      </p:sp>
      <p:pic>
        <p:nvPicPr>
          <p:cNvPr id="11" name="Image 1" descr="icon_chart_navy.png">    </p:cNvPr>
          <p:cNvPicPr>
            <a:picLocks noChangeAspect="1"/>
          </p:cNvPicPr>
          <p:nvPr/>
        </p:nvPicPr>
        <p:blipFill>
          <a:blip r:embed="rId2"/>
          <a:stretch>
            <a:fillRect/>
          </a:stretch>
        </p:blipFill>
        <p:spPr>
          <a:xfrm>
            <a:off x="4494276" y="2075688"/>
            <a:ext cx="384048" cy="384048"/>
          </a:xfrm>
          <a:prstGeom prst="rect">
            <a:avLst/>
          </a:prstGeom>
        </p:spPr>
      </p:pic>
      <p:sp>
        <p:nvSpPr>
          <p:cNvPr id="12" name="Text 8"/>
          <p:cNvSpPr/>
          <p:nvPr/>
        </p:nvSpPr>
        <p:spPr>
          <a:xfrm>
            <a:off x="3520440" y="274320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XGBoost</a:t>
            </a:r>
            <a:endParaRPr lang="en-US" sz="1300" dirty="0"/>
          </a:p>
        </p:txBody>
      </p:sp>
      <p:sp>
        <p:nvSpPr>
          <p:cNvPr id="13" name="Text 9"/>
          <p:cNvSpPr/>
          <p:nvPr/>
        </p:nvSpPr>
        <p:spPr>
          <a:xfrm>
            <a:off x="3520440" y="321868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Data splitting &amp; model training</a:t>
            </a:r>
            <a:endParaRPr lang="en-US" sz="1000" dirty="0"/>
          </a:p>
        </p:txBody>
      </p:sp>
      <p:sp>
        <p:nvSpPr>
          <p:cNvPr id="14" name="Shape 10"/>
          <p:cNvSpPr/>
          <p:nvPr/>
        </p:nvSpPr>
        <p:spPr>
          <a:xfrm>
            <a:off x="6217920" y="1645920"/>
            <a:ext cx="2606040" cy="1965960"/>
          </a:xfrm>
          <a:prstGeom prst="roundRect">
            <a:avLst>
              <a:gd name="adj" fmla="val 2791"/>
            </a:avLst>
          </a:prstGeom>
          <a:solidFill>
            <a:srgbClr val="EEF1FA"/>
          </a:solidFill>
          <a:ln/>
        </p:spPr>
      </p:sp>
      <p:sp>
        <p:nvSpPr>
          <p:cNvPr id="15" name="Shape 11"/>
          <p:cNvSpPr/>
          <p:nvPr/>
        </p:nvSpPr>
        <p:spPr>
          <a:xfrm>
            <a:off x="7155180" y="1901952"/>
            <a:ext cx="731520" cy="731520"/>
          </a:xfrm>
          <a:prstGeom prst="ellipse">
            <a:avLst/>
          </a:prstGeom>
          <a:solidFill>
            <a:srgbClr val="FFFFFF"/>
          </a:solidFill>
          <a:ln/>
        </p:spPr>
      </p:sp>
      <p:pic>
        <p:nvPicPr>
          <p:cNvPr id="16" name="Image 2" descr="icon_cogs_navy.png">    </p:cNvPr>
          <p:cNvPicPr>
            <a:picLocks noChangeAspect="1"/>
          </p:cNvPicPr>
          <p:nvPr/>
        </p:nvPicPr>
        <p:blipFill>
          <a:blip r:embed="rId3"/>
          <a:stretch>
            <a:fillRect/>
          </a:stretch>
        </p:blipFill>
        <p:spPr>
          <a:xfrm>
            <a:off x="7328916" y="2075688"/>
            <a:ext cx="384048" cy="384048"/>
          </a:xfrm>
          <a:prstGeom prst="rect">
            <a:avLst/>
          </a:prstGeom>
        </p:spPr>
      </p:pic>
      <p:sp>
        <p:nvSpPr>
          <p:cNvPr id="17" name="Text 12"/>
          <p:cNvSpPr/>
          <p:nvPr/>
        </p:nvSpPr>
        <p:spPr>
          <a:xfrm>
            <a:off x="6355080" y="274320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Amazon CodeWhisperer</a:t>
            </a:r>
            <a:endParaRPr lang="en-US" sz="1300" dirty="0"/>
          </a:p>
        </p:txBody>
      </p:sp>
      <p:sp>
        <p:nvSpPr>
          <p:cNvPr id="18" name="Text 13"/>
          <p:cNvSpPr/>
          <p:nvPr/>
        </p:nvSpPr>
        <p:spPr>
          <a:xfrm>
            <a:off x="6355080" y="321868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AI-assisted development</a:t>
            </a:r>
            <a:endParaRPr lang="en-US" sz="1000" dirty="0"/>
          </a:p>
        </p:txBody>
      </p:sp>
      <p:sp>
        <p:nvSpPr>
          <p:cNvPr id="19" name="Shape 14"/>
          <p:cNvSpPr/>
          <p:nvPr/>
        </p:nvSpPr>
        <p:spPr>
          <a:xfrm>
            <a:off x="9052560" y="1645920"/>
            <a:ext cx="2606040" cy="1965960"/>
          </a:xfrm>
          <a:prstGeom prst="roundRect">
            <a:avLst>
              <a:gd name="adj" fmla="val 2791"/>
            </a:avLst>
          </a:prstGeom>
          <a:solidFill>
            <a:srgbClr val="EEF1FA"/>
          </a:solidFill>
          <a:ln/>
        </p:spPr>
      </p:sp>
      <p:sp>
        <p:nvSpPr>
          <p:cNvPr id="20" name="Shape 15"/>
          <p:cNvSpPr/>
          <p:nvPr/>
        </p:nvSpPr>
        <p:spPr>
          <a:xfrm>
            <a:off x="9989820" y="1901952"/>
            <a:ext cx="731520" cy="731520"/>
          </a:xfrm>
          <a:prstGeom prst="ellipse">
            <a:avLst/>
          </a:prstGeom>
          <a:solidFill>
            <a:srgbClr val="FFFFFF"/>
          </a:solidFill>
          <a:ln/>
        </p:spPr>
      </p:sp>
      <p:pic>
        <p:nvPicPr>
          <p:cNvPr id="21" name="Image 3" descr="icon_layers_navy.png">    </p:cNvPr>
          <p:cNvPicPr>
            <a:picLocks noChangeAspect="1"/>
          </p:cNvPicPr>
          <p:nvPr/>
        </p:nvPicPr>
        <p:blipFill>
          <a:blip r:embed="rId4"/>
          <a:stretch>
            <a:fillRect/>
          </a:stretch>
        </p:blipFill>
        <p:spPr>
          <a:xfrm>
            <a:off x="10163556" y="2075688"/>
            <a:ext cx="384048" cy="384048"/>
          </a:xfrm>
          <a:prstGeom prst="rect">
            <a:avLst/>
          </a:prstGeom>
        </p:spPr>
      </p:pic>
      <p:sp>
        <p:nvSpPr>
          <p:cNvPr id="22" name="Text 16"/>
          <p:cNvSpPr/>
          <p:nvPr/>
        </p:nvSpPr>
        <p:spPr>
          <a:xfrm>
            <a:off x="9189720" y="274320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AWS Documentation</a:t>
            </a:r>
            <a:endParaRPr lang="en-US" sz="1300" dirty="0"/>
          </a:p>
        </p:txBody>
      </p:sp>
      <p:sp>
        <p:nvSpPr>
          <p:cNvPr id="23" name="Text 17"/>
          <p:cNvSpPr/>
          <p:nvPr/>
        </p:nvSpPr>
        <p:spPr>
          <a:xfrm>
            <a:off x="9189720" y="321868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Reference &amp; best practices</a:t>
            </a:r>
            <a:endParaRPr lang="en-US" sz="1000" dirty="0"/>
          </a:p>
        </p:txBody>
      </p:sp>
      <p:sp>
        <p:nvSpPr>
          <p:cNvPr id="24" name="Shape 18"/>
          <p:cNvSpPr/>
          <p:nvPr/>
        </p:nvSpPr>
        <p:spPr>
          <a:xfrm>
            <a:off x="548640" y="3886200"/>
            <a:ext cx="2606040" cy="1965960"/>
          </a:xfrm>
          <a:prstGeom prst="roundRect">
            <a:avLst>
              <a:gd name="adj" fmla="val 2791"/>
            </a:avLst>
          </a:prstGeom>
          <a:solidFill>
            <a:srgbClr val="EEF1FA"/>
          </a:solidFill>
          <a:ln/>
        </p:spPr>
      </p:sp>
      <p:sp>
        <p:nvSpPr>
          <p:cNvPr id="25" name="Shape 19"/>
          <p:cNvSpPr/>
          <p:nvPr/>
        </p:nvSpPr>
        <p:spPr>
          <a:xfrm>
            <a:off x="1485900" y="4142232"/>
            <a:ext cx="731520" cy="731520"/>
          </a:xfrm>
          <a:prstGeom prst="ellipse">
            <a:avLst/>
          </a:prstGeom>
          <a:solidFill>
            <a:srgbClr val="FFFFFF"/>
          </a:solidFill>
          <a:ln/>
        </p:spPr>
      </p:sp>
      <p:pic>
        <p:nvPicPr>
          <p:cNvPr id="26" name="Image 4" descr="icon_eye_navy.png">    </p:cNvPr>
          <p:cNvPicPr>
            <a:picLocks noChangeAspect="1"/>
          </p:cNvPicPr>
          <p:nvPr/>
        </p:nvPicPr>
        <p:blipFill>
          <a:blip r:embed="rId5"/>
          <a:stretch>
            <a:fillRect/>
          </a:stretch>
        </p:blipFill>
        <p:spPr>
          <a:xfrm>
            <a:off x="1659636" y="4315968"/>
            <a:ext cx="384048" cy="384048"/>
          </a:xfrm>
          <a:prstGeom prst="rect">
            <a:avLst/>
          </a:prstGeom>
        </p:spPr>
      </p:pic>
      <p:sp>
        <p:nvSpPr>
          <p:cNvPr id="27" name="Text 20"/>
          <p:cNvSpPr/>
          <p:nvPr/>
        </p:nvSpPr>
        <p:spPr>
          <a:xfrm>
            <a:off x="685800" y="498348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Computer Vision</a:t>
            </a:r>
            <a:endParaRPr lang="en-US" sz="1300" dirty="0"/>
          </a:p>
        </p:txBody>
      </p:sp>
      <p:sp>
        <p:nvSpPr>
          <p:cNvPr id="28" name="Text 21"/>
          <p:cNvSpPr/>
          <p:nvPr/>
        </p:nvSpPr>
        <p:spPr>
          <a:xfrm>
            <a:off x="685800" y="545896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Image &amp; video analysis</a:t>
            </a:r>
            <a:endParaRPr lang="en-US" sz="1000" dirty="0"/>
          </a:p>
        </p:txBody>
      </p:sp>
      <p:sp>
        <p:nvSpPr>
          <p:cNvPr id="29" name="Shape 22"/>
          <p:cNvSpPr/>
          <p:nvPr/>
        </p:nvSpPr>
        <p:spPr>
          <a:xfrm>
            <a:off x="3383280" y="3886200"/>
            <a:ext cx="2606040" cy="1965960"/>
          </a:xfrm>
          <a:prstGeom prst="roundRect">
            <a:avLst>
              <a:gd name="adj" fmla="val 2791"/>
            </a:avLst>
          </a:prstGeom>
          <a:solidFill>
            <a:srgbClr val="EEF1FA"/>
          </a:solidFill>
          <a:ln/>
        </p:spPr>
      </p:sp>
      <p:sp>
        <p:nvSpPr>
          <p:cNvPr id="30" name="Shape 23"/>
          <p:cNvSpPr/>
          <p:nvPr/>
        </p:nvSpPr>
        <p:spPr>
          <a:xfrm>
            <a:off x="4320540" y="4142232"/>
            <a:ext cx="731520" cy="731520"/>
          </a:xfrm>
          <a:prstGeom prst="ellipse">
            <a:avLst/>
          </a:prstGeom>
          <a:solidFill>
            <a:srgbClr val="FFFFFF"/>
          </a:solidFill>
          <a:ln/>
        </p:spPr>
      </p:sp>
      <p:pic>
        <p:nvPicPr>
          <p:cNvPr id="31" name="Image 5" descr="icon_search_navy.png">    </p:cNvPr>
          <p:cNvPicPr>
            <a:picLocks noChangeAspect="1"/>
          </p:cNvPicPr>
          <p:nvPr/>
        </p:nvPicPr>
        <p:blipFill>
          <a:blip r:embed="rId6"/>
          <a:stretch>
            <a:fillRect/>
          </a:stretch>
        </p:blipFill>
        <p:spPr>
          <a:xfrm>
            <a:off x="4494276" y="4315968"/>
            <a:ext cx="384048" cy="384048"/>
          </a:xfrm>
          <a:prstGeom prst="rect">
            <a:avLst/>
          </a:prstGeom>
        </p:spPr>
      </p:pic>
      <p:sp>
        <p:nvSpPr>
          <p:cNvPr id="32" name="Text 24"/>
          <p:cNvSpPr/>
          <p:nvPr/>
        </p:nvSpPr>
        <p:spPr>
          <a:xfrm>
            <a:off x="3520440" y="498348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NLP Toolset</a:t>
            </a:r>
            <a:endParaRPr lang="en-US" sz="1300" dirty="0"/>
          </a:p>
        </p:txBody>
      </p:sp>
      <p:sp>
        <p:nvSpPr>
          <p:cNvPr id="33" name="Text 25"/>
          <p:cNvSpPr/>
          <p:nvPr/>
        </p:nvSpPr>
        <p:spPr>
          <a:xfrm>
            <a:off x="3520440" y="545896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Sentiment &amp; topic modeling</a:t>
            </a:r>
            <a:endParaRPr lang="en-US" sz="1000" dirty="0"/>
          </a:p>
        </p:txBody>
      </p:sp>
      <p:sp>
        <p:nvSpPr>
          <p:cNvPr id="34" name="Shape 26"/>
          <p:cNvSpPr/>
          <p:nvPr/>
        </p:nvSpPr>
        <p:spPr>
          <a:xfrm>
            <a:off x="6217920" y="3886200"/>
            <a:ext cx="2606040" cy="1965960"/>
          </a:xfrm>
          <a:prstGeom prst="roundRect">
            <a:avLst>
              <a:gd name="adj" fmla="val 2791"/>
            </a:avLst>
          </a:prstGeom>
          <a:solidFill>
            <a:srgbClr val="EEF1FA"/>
          </a:solidFill>
          <a:ln/>
        </p:spPr>
      </p:sp>
      <p:sp>
        <p:nvSpPr>
          <p:cNvPr id="35" name="Shape 27"/>
          <p:cNvSpPr/>
          <p:nvPr/>
        </p:nvSpPr>
        <p:spPr>
          <a:xfrm>
            <a:off x="7155180" y="4142232"/>
            <a:ext cx="731520" cy="731520"/>
          </a:xfrm>
          <a:prstGeom prst="ellipse">
            <a:avLst/>
          </a:prstGeom>
          <a:solidFill>
            <a:srgbClr val="FFFFFF"/>
          </a:solidFill>
          <a:ln/>
        </p:spPr>
      </p:sp>
      <p:pic>
        <p:nvPicPr>
          <p:cNvPr id="36" name="Image 6" descr="icon_robot_navy.png">    </p:cNvPr>
          <p:cNvPicPr>
            <a:picLocks noChangeAspect="1"/>
          </p:cNvPicPr>
          <p:nvPr/>
        </p:nvPicPr>
        <p:blipFill>
          <a:blip r:embed="rId7"/>
          <a:stretch>
            <a:fillRect/>
          </a:stretch>
        </p:blipFill>
        <p:spPr>
          <a:xfrm>
            <a:off x="7328916" y="4315968"/>
            <a:ext cx="384048" cy="384048"/>
          </a:xfrm>
          <a:prstGeom prst="rect">
            <a:avLst/>
          </a:prstGeom>
        </p:spPr>
      </p:pic>
      <p:sp>
        <p:nvSpPr>
          <p:cNvPr id="37" name="Text 28"/>
          <p:cNvSpPr/>
          <p:nvPr/>
        </p:nvSpPr>
        <p:spPr>
          <a:xfrm>
            <a:off x="6355080" y="498348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Generative AI</a:t>
            </a:r>
            <a:endParaRPr lang="en-US" sz="1300" dirty="0"/>
          </a:p>
        </p:txBody>
      </p:sp>
      <p:sp>
        <p:nvSpPr>
          <p:cNvPr id="38" name="Text 29"/>
          <p:cNvSpPr/>
          <p:nvPr/>
        </p:nvSpPr>
        <p:spPr>
          <a:xfrm>
            <a:off x="6355080" y="545896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Prompts &amp; foundation models</a:t>
            </a:r>
            <a:endParaRPr lang="en-US" sz="1000" dirty="0"/>
          </a:p>
        </p:txBody>
      </p:sp>
      <p:sp>
        <p:nvSpPr>
          <p:cNvPr id="39" name="Shape 30"/>
          <p:cNvSpPr/>
          <p:nvPr/>
        </p:nvSpPr>
        <p:spPr>
          <a:xfrm>
            <a:off x="9052560" y="3886200"/>
            <a:ext cx="2606040" cy="1965960"/>
          </a:xfrm>
          <a:prstGeom prst="roundRect">
            <a:avLst>
              <a:gd name="adj" fmla="val 2791"/>
            </a:avLst>
          </a:prstGeom>
          <a:solidFill>
            <a:srgbClr val="EEF1FA"/>
          </a:solidFill>
          <a:ln/>
        </p:spPr>
      </p:sp>
      <p:sp>
        <p:nvSpPr>
          <p:cNvPr id="40" name="Shape 31"/>
          <p:cNvSpPr/>
          <p:nvPr/>
        </p:nvSpPr>
        <p:spPr>
          <a:xfrm>
            <a:off x="9989820" y="4142232"/>
            <a:ext cx="731520" cy="731520"/>
          </a:xfrm>
          <a:prstGeom prst="ellipse">
            <a:avLst/>
          </a:prstGeom>
          <a:solidFill>
            <a:srgbClr val="FFFFFF"/>
          </a:solidFill>
          <a:ln/>
        </p:spPr>
      </p:sp>
      <p:pic>
        <p:nvPicPr>
          <p:cNvPr id="41" name="Image 7" descr="icon_shield_navy.png">    </p:cNvPr>
          <p:cNvPicPr>
            <a:picLocks noChangeAspect="1"/>
          </p:cNvPicPr>
          <p:nvPr/>
        </p:nvPicPr>
        <p:blipFill>
          <a:blip r:embed="rId8"/>
          <a:stretch>
            <a:fillRect/>
          </a:stretch>
        </p:blipFill>
        <p:spPr>
          <a:xfrm>
            <a:off x="10163556" y="4315968"/>
            <a:ext cx="384048" cy="384048"/>
          </a:xfrm>
          <a:prstGeom prst="rect">
            <a:avLst/>
          </a:prstGeom>
        </p:spPr>
      </p:pic>
      <p:sp>
        <p:nvSpPr>
          <p:cNvPr id="42" name="Text 32"/>
          <p:cNvSpPr/>
          <p:nvPr/>
        </p:nvSpPr>
        <p:spPr>
          <a:xfrm>
            <a:off x="9189720" y="4983480"/>
            <a:ext cx="2331720" cy="502920"/>
          </a:xfrm>
          <a:prstGeom prst="rect">
            <a:avLst/>
          </a:prstGeom>
          <a:noFill/>
          <a:ln/>
        </p:spPr>
        <p:txBody>
          <a:bodyPr wrap="square" lIns="0" tIns="0" rIns="0" bIns="0" rtlCol="0" anchor="t"/>
          <a:lstStyle/>
          <a:p>
            <a:pPr algn="ctr" indent="0" marL="0">
              <a:buNone/>
            </a:pPr>
            <a:r>
              <a:rPr lang="en-US" sz="1300" b="1" dirty="0">
                <a:solidFill>
                  <a:srgbClr val="1A1A2E"/>
                </a:solidFill>
                <a:latin typeface="Cambria" pitchFamily="34" charset="0"/>
                <a:ea typeface="Cambria" pitchFamily="34" charset="-122"/>
                <a:cs typeface="Cambria" pitchFamily="34" charset="-120"/>
              </a:rPr>
              <a:t>Governance &amp; Compliance</a:t>
            </a:r>
            <a:endParaRPr lang="en-US" sz="1300" dirty="0"/>
          </a:p>
        </p:txBody>
      </p:sp>
      <p:sp>
        <p:nvSpPr>
          <p:cNvPr id="43" name="Text 33"/>
          <p:cNvSpPr/>
          <p:nvPr/>
        </p:nvSpPr>
        <p:spPr>
          <a:xfrm>
            <a:off x="9189720" y="5458968"/>
            <a:ext cx="233172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Responsible AI practices</a:t>
            </a:r>
            <a:endParaRPr lang="en-US" sz="1000" dirty="0"/>
          </a:p>
        </p:txBody>
      </p:sp>
      <p:sp>
        <p:nvSpPr>
          <p:cNvPr id="44" name="Text 3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45" name="Text 35"/>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450"/>
        </a:solidFill>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02920" y="731520"/>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Cloud Training to Responsible AI</a:t>
            </a:r>
            <a:endParaRPr lang="en-US" sz="2800" dirty="0"/>
          </a:p>
        </p:txBody>
      </p:sp>
      <p:sp>
        <p:nvSpPr>
          <p:cNvPr id="4" name="Shape 2"/>
          <p:cNvSpPr/>
          <p:nvPr/>
        </p:nvSpPr>
        <p:spPr>
          <a:xfrm>
            <a:off x="548640" y="1600200"/>
            <a:ext cx="11064240" cy="685800"/>
          </a:xfrm>
          <a:prstGeom prst="roundRect">
            <a:avLst>
              <a:gd name="adj" fmla="val 6667"/>
            </a:avLst>
          </a:prstGeom>
          <a:solidFill>
            <a:srgbClr val="232C6B"/>
          </a:solidFill>
          <a:ln/>
        </p:spPr>
      </p:sp>
      <p:sp>
        <p:nvSpPr>
          <p:cNvPr id="5" name="Shape 3"/>
          <p:cNvSpPr/>
          <p:nvPr/>
        </p:nvSpPr>
        <p:spPr>
          <a:xfrm>
            <a:off x="777240" y="1696212"/>
            <a:ext cx="493776" cy="493776"/>
          </a:xfrm>
          <a:prstGeom prst="ellipse">
            <a:avLst/>
          </a:prstGeom>
          <a:solidFill>
            <a:srgbClr val="1B2450"/>
          </a:solidFill>
          <a:ln/>
        </p:spPr>
      </p:sp>
      <p:pic>
        <p:nvPicPr>
          <p:cNvPr id="6" name="Image 0" descr="icon_brain.png">    </p:cNvPr>
          <p:cNvPicPr>
            <a:picLocks noChangeAspect="1"/>
          </p:cNvPicPr>
          <p:nvPr/>
        </p:nvPicPr>
        <p:blipFill>
          <a:blip r:embed="rId1"/>
          <a:stretch>
            <a:fillRect/>
          </a:stretch>
        </p:blipFill>
        <p:spPr>
          <a:xfrm>
            <a:off x="896112" y="1815084"/>
            <a:ext cx="256032" cy="256032"/>
          </a:xfrm>
          <a:prstGeom prst="rect">
            <a:avLst/>
          </a:prstGeom>
        </p:spPr>
      </p:pic>
      <p:sp>
        <p:nvSpPr>
          <p:cNvPr id="7" name="Text 4"/>
          <p:cNvSpPr/>
          <p:nvPr/>
        </p:nvSpPr>
        <p:spPr>
          <a:xfrm>
            <a:off x="1463040" y="1600200"/>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Model Layer</a:t>
            </a:r>
            <a:endParaRPr lang="en-US" sz="1400" dirty="0"/>
          </a:p>
        </p:txBody>
      </p:sp>
      <p:sp>
        <p:nvSpPr>
          <p:cNvPr id="8" name="Text 5"/>
          <p:cNvSpPr/>
          <p:nvPr/>
        </p:nvSpPr>
        <p:spPr>
          <a:xfrm>
            <a:off x="4434840" y="1600200"/>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ML models trained and evaluated using Amazon SageMaker</a:t>
            </a:r>
            <a:endParaRPr lang="en-US" sz="1250" dirty="0"/>
          </a:p>
        </p:txBody>
      </p:sp>
      <p:sp>
        <p:nvSpPr>
          <p:cNvPr id="9" name="Text 6"/>
          <p:cNvSpPr/>
          <p:nvPr/>
        </p:nvSpPr>
        <p:spPr>
          <a:xfrm>
            <a:off x="777240" y="2267712"/>
            <a:ext cx="493776" cy="201168"/>
          </a:xfrm>
          <a:prstGeom prst="rect">
            <a:avLst/>
          </a:prstGeom>
          <a:noFill/>
          <a:ln/>
        </p:spPr>
        <p:txBody>
          <a:bodyPr wrap="square" lIns="0" tIns="0" rIns="0" bIns="0" rtlCol="0" anchor="ctr"/>
          <a:lstStyle/>
          <a:p>
            <a:pPr algn="ctr" indent="0" marL="0">
              <a:buNone/>
            </a:pPr>
            <a:r>
              <a:rPr lang="en-US" sz="1200" dirty="0">
                <a:solidFill>
                  <a:srgbClr val="E8A33D"/>
                </a:solidFill>
                <a:latin typeface="Calibri" pitchFamily="34" charset="0"/>
                <a:ea typeface="Calibri" pitchFamily="34" charset="-122"/>
                <a:cs typeface="Calibri" pitchFamily="34" charset="-120"/>
              </a:rPr>
              <a:t>↓</a:t>
            </a:r>
            <a:endParaRPr lang="en-US" sz="1200" dirty="0"/>
          </a:p>
        </p:txBody>
      </p:sp>
      <p:sp>
        <p:nvSpPr>
          <p:cNvPr id="10" name="Shape 7"/>
          <p:cNvSpPr/>
          <p:nvPr/>
        </p:nvSpPr>
        <p:spPr>
          <a:xfrm>
            <a:off x="548640" y="2395728"/>
            <a:ext cx="11064240" cy="685800"/>
          </a:xfrm>
          <a:prstGeom prst="roundRect">
            <a:avLst>
              <a:gd name="adj" fmla="val 6667"/>
            </a:avLst>
          </a:prstGeom>
          <a:solidFill>
            <a:srgbClr val="232C6B"/>
          </a:solidFill>
          <a:ln/>
        </p:spPr>
      </p:sp>
      <p:sp>
        <p:nvSpPr>
          <p:cNvPr id="11" name="Shape 8"/>
          <p:cNvSpPr/>
          <p:nvPr/>
        </p:nvSpPr>
        <p:spPr>
          <a:xfrm>
            <a:off x="777240" y="2491740"/>
            <a:ext cx="493776" cy="493776"/>
          </a:xfrm>
          <a:prstGeom prst="ellipse">
            <a:avLst/>
          </a:prstGeom>
          <a:solidFill>
            <a:srgbClr val="1B2450"/>
          </a:solidFill>
          <a:ln/>
        </p:spPr>
      </p:sp>
      <p:pic>
        <p:nvPicPr>
          <p:cNvPr id="12" name="Image 1" descr="icon_chart.png">    </p:cNvPr>
          <p:cNvPicPr>
            <a:picLocks noChangeAspect="1"/>
          </p:cNvPicPr>
          <p:nvPr/>
        </p:nvPicPr>
        <p:blipFill>
          <a:blip r:embed="rId2"/>
          <a:stretch>
            <a:fillRect/>
          </a:stretch>
        </p:blipFill>
        <p:spPr>
          <a:xfrm>
            <a:off x="896112" y="2610612"/>
            <a:ext cx="256032" cy="256032"/>
          </a:xfrm>
          <a:prstGeom prst="rect">
            <a:avLst/>
          </a:prstGeom>
        </p:spPr>
      </p:pic>
      <p:sp>
        <p:nvSpPr>
          <p:cNvPr id="13" name="Text 9"/>
          <p:cNvSpPr/>
          <p:nvPr/>
        </p:nvSpPr>
        <p:spPr>
          <a:xfrm>
            <a:off x="1463040" y="2395728"/>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Training Layer</a:t>
            </a:r>
            <a:endParaRPr lang="en-US" sz="1400" dirty="0"/>
          </a:p>
        </p:txBody>
      </p:sp>
      <p:sp>
        <p:nvSpPr>
          <p:cNvPr id="14" name="Text 10"/>
          <p:cNvSpPr/>
          <p:nvPr/>
        </p:nvSpPr>
        <p:spPr>
          <a:xfrm>
            <a:off x="4434840" y="2395728"/>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Data splitting and model training performed using XGBoost</a:t>
            </a:r>
            <a:endParaRPr lang="en-US" sz="1250" dirty="0"/>
          </a:p>
        </p:txBody>
      </p:sp>
      <p:sp>
        <p:nvSpPr>
          <p:cNvPr id="15" name="Text 11"/>
          <p:cNvSpPr/>
          <p:nvPr/>
        </p:nvSpPr>
        <p:spPr>
          <a:xfrm>
            <a:off x="777240" y="3063240"/>
            <a:ext cx="493776" cy="201168"/>
          </a:xfrm>
          <a:prstGeom prst="rect">
            <a:avLst/>
          </a:prstGeom>
          <a:noFill/>
          <a:ln/>
        </p:spPr>
        <p:txBody>
          <a:bodyPr wrap="square" lIns="0" tIns="0" rIns="0" bIns="0" rtlCol="0" anchor="ctr"/>
          <a:lstStyle/>
          <a:p>
            <a:pPr algn="ctr" indent="0" marL="0">
              <a:buNone/>
            </a:pPr>
            <a:r>
              <a:rPr lang="en-US" sz="1200" dirty="0">
                <a:solidFill>
                  <a:srgbClr val="E8A33D"/>
                </a:solidFill>
                <a:latin typeface="Calibri" pitchFamily="34" charset="0"/>
                <a:ea typeface="Calibri" pitchFamily="34" charset="-122"/>
                <a:cs typeface="Calibri" pitchFamily="34" charset="-120"/>
              </a:rPr>
              <a:t>↓</a:t>
            </a:r>
            <a:endParaRPr lang="en-US" sz="1200" dirty="0"/>
          </a:p>
        </p:txBody>
      </p:sp>
      <p:sp>
        <p:nvSpPr>
          <p:cNvPr id="16" name="Shape 12"/>
          <p:cNvSpPr/>
          <p:nvPr/>
        </p:nvSpPr>
        <p:spPr>
          <a:xfrm>
            <a:off x="548640" y="3191256"/>
            <a:ext cx="11064240" cy="685800"/>
          </a:xfrm>
          <a:prstGeom prst="roundRect">
            <a:avLst>
              <a:gd name="adj" fmla="val 6667"/>
            </a:avLst>
          </a:prstGeom>
          <a:solidFill>
            <a:srgbClr val="232C6B"/>
          </a:solidFill>
          <a:ln/>
        </p:spPr>
      </p:sp>
      <p:sp>
        <p:nvSpPr>
          <p:cNvPr id="17" name="Shape 13"/>
          <p:cNvSpPr/>
          <p:nvPr/>
        </p:nvSpPr>
        <p:spPr>
          <a:xfrm>
            <a:off x="777240" y="3287268"/>
            <a:ext cx="493776" cy="493776"/>
          </a:xfrm>
          <a:prstGeom prst="ellipse">
            <a:avLst/>
          </a:prstGeom>
          <a:solidFill>
            <a:srgbClr val="1B2450"/>
          </a:solidFill>
          <a:ln/>
        </p:spPr>
      </p:sp>
      <p:pic>
        <p:nvPicPr>
          <p:cNvPr id="18" name="Image 2" descr="icon_cloud.png">    </p:cNvPr>
          <p:cNvPicPr>
            <a:picLocks noChangeAspect="1"/>
          </p:cNvPicPr>
          <p:nvPr/>
        </p:nvPicPr>
        <p:blipFill>
          <a:blip r:embed="rId3"/>
          <a:stretch>
            <a:fillRect/>
          </a:stretch>
        </p:blipFill>
        <p:spPr>
          <a:xfrm>
            <a:off x="896112" y="3406140"/>
            <a:ext cx="256032" cy="256032"/>
          </a:xfrm>
          <a:prstGeom prst="rect">
            <a:avLst/>
          </a:prstGeom>
        </p:spPr>
      </p:pic>
      <p:sp>
        <p:nvSpPr>
          <p:cNvPr id="19" name="Text 14"/>
          <p:cNvSpPr/>
          <p:nvPr/>
        </p:nvSpPr>
        <p:spPr>
          <a:xfrm>
            <a:off x="1463040" y="3191256"/>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Forecasting Layer</a:t>
            </a:r>
            <a:endParaRPr lang="en-US" sz="1400" dirty="0"/>
          </a:p>
        </p:txBody>
      </p:sp>
      <p:sp>
        <p:nvSpPr>
          <p:cNvPr id="20" name="Text 15"/>
          <p:cNvSpPr/>
          <p:nvPr/>
        </p:nvSpPr>
        <p:spPr>
          <a:xfrm>
            <a:off x="4434840" y="3191256"/>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AWS managed services used to explore forecasting scenarios</a:t>
            </a:r>
            <a:endParaRPr lang="en-US" sz="1250" dirty="0"/>
          </a:p>
        </p:txBody>
      </p:sp>
      <p:sp>
        <p:nvSpPr>
          <p:cNvPr id="21" name="Text 16"/>
          <p:cNvSpPr/>
          <p:nvPr/>
        </p:nvSpPr>
        <p:spPr>
          <a:xfrm>
            <a:off x="777240" y="3858768"/>
            <a:ext cx="493776" cy="201168"/>
          </a:xfrm>
          <a:prstGeom prst="rect">
            <a:avLst/>
          </a:prstGeom>
          <a:noFill/>
          <a:ln/>
        </p:spPr>
        <p:txBody>
          <a:bodyPr wrap="square" lIns="0" tIns="0" rIns="0" bIns="0" rtlCol="0" anchor="ctr"/>
          <a:lstStyle/>
          <a:p>
            <a:pPr algn="ctr" indent="0" marL="0">
              <a:buNone/>
            </a:pPr>
            <a:r>
              <a:rPr lang="en-US" sz="1200" dirty="0">
                <a:solidFill>
                  <a:srgbClr val="E8A33D"/>
                </a:solidFill>
                <a:latin typeface="Calibri" pitchFamily="34" charset="0"/>
                <a:ea typeface="Calibri" pitchFamily="34" charset="-122"/>
                <a:cs typeface="Calibri" pitchFamily="34" charset="-120"/>
              </a:rPr>
              <a:t>↓</a:t>
            </a:r>
            <a:endParaRPr lang="en-US" sz="1200" dirty="0"/>
          </a:p>
        </p:txBody>
      </p:sp>
      <p:sp>
        <p:nvSpPr>
          <p:cNvPr id="22" name="Shape 17"/>
          <p:cNvSpPr/>
          <p:nvPr/>
        </p:nvSpPr>
        <p:spPr>
          <a:xfrm>
            <a:off x="548640" y="3986784"/>
            <a:ext cx="11064240" cy="685800"/>
          </a:xfrm>
          <a:prstGeom prst="roundRect">
            <a:avLst>
              <a:gd name="adj" fmla="val 6667"/>
            </a:avLst>
          </a:prstGeom>
          <a:solidFill>
            <a:srgbClr val="232C6B"/>
          </a:solidFill>
          <a:ln/>
        </p:spPr>
      </p:sp>
      <p:sp>
        <p:nvSpPr>
          <p:cNvPr id="23" name="Shape 18"/>
          <p:cNvSpPr/>
          <p:nvPr/>
        </p:nvSpPr>
        <p:spPr>
          <a:xfrm>
            <a:off x="777240" y="4082796"/>
            <a:ext cx="493776" cy="493776"/>
          </a:xfrm>
          <a:prstGeom prst="ellipse">
            <a:avLst/>
          </a:prstGeom>
          <a:solidFill>
            <a:srgbClr val="1B2450"/>
          </a:solidFill>
          <a:ln/>
        </p:spPr>
      </p:sp>
      <p:pic>
        <p:nvPicPr>
          <p:cNvPr id="24" name="Image 3" descr="icon_eye.png">    </p:cNvPr>
          <p:cNvPicPr>
            <a:picLocks noChangeAspect="1"/>
          </p:cNvPicPr>
          <p:nvPr/>
        </p:nvPicPr>
        <p:blipFill>
          <a:blip r:embed="rId4"/>
          <a:stretch>
            <a:fillRect/>
          </a:stretch>
        </p:blipFill>
        <p:spPr>
          <a:xfrm>
            <a:off x="896112" y="4201668"/>
            <a:ext cx="256032" cy="256032"/>
          </a:xfrm>
          <a:prstGeom prst="rect">
            <a:avLst/>
          </a:prstGeom>
        </p:spPr>
      </p:pic>
      <p:sp>
        <p:nvSpPr>
          <p:cNvPr id="25" name="Text 19"/>
          <p:cNvSpPr/>
          <p:nvPr/>
        </p:nvSpPr>
        <p:spPr>
          <a:xfrm>
            <a:off x="1463040" y="3986784"/>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Vision &amp; NLP Layer</a:t>
            </a:r>
            <a:endParaRPr lang="en-US" sz="1400" dirty="0"/>
          </a:p>
        </p:txBody>
      </p:sp>
      <p:sp>
        <p:nvSpPr>
          <p:cNvPr id="26" name="Text 20"/>
          <p:cNvSpPr/>
          <p:nvPr/>
        </p:nvSpPr>
        <p:spPr>
          <a:xfrm>
            <a:off x="4434840" y="3986784"/>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Computer vision, text processing, sentiment &amp; topic analysis</a:t>
            </a:r>
            <a:endParaRPr lang="en-US" sz="1250" dirty="0"/>
          </a:p>
        </p:txBody>
      </p:sp>
      <p:sp>
        <p:nvSpPr>
          <p:cNvPr id="27" name="Text 21"/>
          <p:cNvSpPr/>
          <p:nvPr/>
        </p:nvSpPr>
        <p:spPr>
          <a:xfrm>
            <a:off x="777240" y="4654296"/>
            <a:ext cx="493776" cy="201168"/>
          </a:xfrm>
          <a:prstGeom prst="rect">
            <a:avLst/>
          </a:prstGeom>
          <a:noFill/>
          <a:ln/>
        </p:spPr>
        <p:txBody>
          <a:bodyPr wrap="square" lIns="0" tIns="0" rIns="0" bIns="0" rtlCol="0" anchor="ctr"/>
          <a:lstStyle/>
          <a:p>
            <a:pPr algn="ctr" indent="0" marL="0">
              <a:buNone/>
            </a:pPr>
            <a:r>
              <a:rPr lang="en-US" sz="1200" dirty="0">
                <a:solidFill>
                  <a:srgbClr val="E8A33D"/>
                </a:solidFill>
                <a:latin typeface="Calibri" pitchFamily="34" charset="0"/>
                <a:ea typeface="Calibri" pitchFamily="34" charset="-122"/>
                <a:cs typeface="Calibri" pitchFamily="34" charset="-120"/>
              </a:rPr>
              <a:t>↓</a:t>
            </a:r>
            <a:endParaRPr lang="en-US" sz="1200" dirty="0"/>
          </a:p>
        </p:txBody>
      </p:sp>
      <p:sp>
        <p:nvSpPr>
          <p:cNvPr id="28" name="Shape 22"/>
          <p:cNvSpPr/>
          <p:nvPr/>
        </p:nvSpPr>
        <p:spPr>
          <a:xfrm>
            <a:off x="548640" y="4782312"/>
            <a:ext cx="11064240" cy="685800"/>
          </a:xfrm>
          <a:prstGeom prst="roundRect">
            <a:avLst>
              <a:gd name="adj" fmla="val 6667"/>
            </a:avLst>
          </a:prstGeom>
          <a:solidFill>
            <a:srgbClr val="232C6B"/>
          </a:solidFill>
          <a:ln/>
        </p:spPr>
      </p:sp>
      <p:sp>
        <p:nvSpPr>
          <p:cNvPr id="29" name="Shape 23"/>
          <p:cNvSpPr/>
          <p:nvPr/>
        </p:nvSpPr>
        <p:spPr>
          <a:xfrm>
            <a:off x="777240" y="4878324"/>
            <a:ext cx="493776" cy="493776"/>
          </a:xfrm>
          <a:prstGeom prst="ellipse">
            <a:avLst/>
          </a:prstGeom>
          <a:solidFill>
            <a:srgbClr val="1B2450"/>
          </a:solidFill>
          <a:ln/>
        </p:spPr>
      </p:sp>
      <p:pic>
        <p:nvPicPr>
          <p:cNvPr id="30" name="Image 4" descr="icon_robot.png">    </p:cNvPr>
          <p:cNvPicPr>
            <a:picLocks noChangeAspect="1"/>
          </p:cNvPicPr>
          <p:nvPr/>
        </p:nvPicPr>
        <p:blipFill>
          <a:blip r:embed="rId5"/>
          <a:stretch>
            <a:fillRect/>
          </a:stretch>
        </p:blipFill>
        <p:spPr>
          <a:xfrm>
            <a:off x="896112" y="4997196"/>
            <a:ext cx="256032" cy="256032"/>
          </a:xfrm>
          <a:prstGeom prst="rect">
            <a:avLst/>
          </a:prstGeom>
        </p:spPr>
      </p:pic>
      <p:sp>
        <p:nvSpPr>
          <p:cNvPr id="31" name="Text 24"/>
          <p:cNvSpPr/>
          <p:nvPr/>
        </p:nvSpPr>
        <p:spPr>
          <a:xfrm>
            <a:off x="1463040" y="4782312"/>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Generative AI Layer</a:t>
            </a:r>
            <a:endParaRPr lang="en-US" sz="1400" dirty="0"/>
          </a:p>
        </p:txBody>
      </p:sp>
      <p:sp>
        <p:nvSpPr>
          <p:cNvPr id="32" name="Text 25"/>
          <p:cNvSpPr/>
          <p:nvPr/>
        </p:nvSpPr>
        <p:spPr>
          <a:xfrm>
            <a:off x="4434840" y="4782312"/>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Foundation models directed via prompts and prompt engineering</a:t>
            </a:r>
            <a:endParaRPr lang="en-US" sz="1250" dirty="0"/>
          </a:p>
        </p:txBody>
      </p:sp>
      <p:sp>
        <p:nvSpPr>
          <p:cNvPr id="33" name="Text 26"/>
          <p:cNvSpPr/>
          <p:nvPr/>
        </p:nvSpPr>
        <p:spPr>
          <a:xfrm>
            <a:off x="777240" y="5449824"/>
            <a:ext cx="493776" cy="201168"/>
          </a:xfrm>
          <a:prstGeom prst="rect">
            <a:avLst/>
          </a:prstGeom>
          <a:noFill/>
          <a:ln/>
        </p:spPr>
        <p:txBody>
          <a:bodyPr wrap="square" lIns="0" tIns="0" rIns="0" bIns="0" rtlCol="0" anchor="ctr"/>
          <a:lstStyle/>
          <a:p>
            <a:pPr algn="ctr" indent="0" marL="0">
              <a:buNone/>
            </a:pPr>
            <a:r>
              <a:rPr lang="en-US" sz="1200" dirty="0">
                <a:solidFill>
                  <a:srgbClr val="E8A33D"/>
                </a:solidFill>
                <a:latin typeface="Calibri" pitchFamily="34" charset="0"/>
                <a:ea typeface="Calibri" pitchFamily="34" charset="-122"/>
                <a:cs typeface="Calibri" pitchFamily="34" charset="-120"/>
              </a:rPr>
              <a:t>↓</a:t>
            </a:r>
            <a:endParaRPr lang="en-US" sz="1200" dirty="0"/>
          </a:p>
        </p:txBody>
      </p:sp>
      <p:sp>
        <p:nvSpPr>
          <p:cNvPr id="34" name="Shape 27"/>
          <p:cNvSpPr/>
          <p:nvPr/>
        </p:nvSpPr>
        <p:spPr>
          <a:xfrm>
            <a:off x="548640" y="5577840"/>
            <a:ext cx="11064240" cy="685800"/>
          </a:xfrm>
          <a:prstGeom prst="roundRect">
            <a:avLst>
              <a:gd name="adj" fmla="val 6667"/>
            </a:avLst>
          </a:prstGeom>
          <a:solidFill>
            <a:srgbClr val="232C6B"/>
          </a:solidFill>
          <a:ln/>
        </p:spPr>
      </p:sp>
      <p:sp>
        <p:nvSpPr>
          <p:cNvPr id="35" name="Shape 28"/>
          <p:cNvSpPr/>
          <p:nvPr/>
        </p:nvSpPr>
        <p:spPr>
          <a:xfrm>
            <a:off x="777240" y="5673852"/>
            <a:ext cx="493776" cy="493776"/>
          </a:xfrm>
          <a:prstGeom prst="ellipse">
            <a:avLst/>
          </a:prstGeom>
          <a:solidFill>
            <a:srgbClr val="1B2450"/>
          </a:solidFill>
          <a:ln/>
        </p:spPr>
      </p:sp>
      <p:pic>
        <p:nvPicPr>
          <p:cNvPr id="36" name="Image 5" descr="icon_shield.png">    </p:cNvPr>
          <p:cNvPicPr>
            <a:picLocks noChangeAspect="1"/>
          </p:cNvPicPr>
          <p:nvPr/>
        </p:nvPicPr>
        <p:blipFill>
          <a:blip r:embed="rId6"/>
          <a:stretch>
            <a:fillRect/>
          </a:stretch>
        </p:blipFill>
        <p:spPr>
          <a:xfrm>
            <a:off x="896112" y="5792724"/>
            <a:ext cx="256032" cy="256032"/>
          </a:xfrm>
          <a:prstGeom prst="rect">
            <a:avLst/>
          </a:prstGeom>
        </p:spPr>
      </p:pic>
      <p:sp>
        <p:nvSpPr>
          <p:cNvPr id="37" name="Text 29"/>
          <p:cNvSpPr/>
          <p:nvPr/>
        </p:nvSpPr>
        <p:spPr>
          <a:xfrm>
            <a:off x="1463040" y="5577840"/>
            <a:ext cx="283464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Governance Layer</a:t>
            </a:r>
            <a:endParaRPr lang="en-US" sz="1400" dirty="0"/>
          </a:p>
        </p:txBody>
      </p:sp>
      <p:sp>
        <p:nvSpPr>
          <p:cNvPr id="38" name="Text 30"/>
          <p:cNvSpPr/>
          <p:nvPr/>
        </p:nvSpPr>
        <p:spPr>
          <a:xfrm>
            <a:off x="4434840" y="5577840"/>
            <a:ext cx="6949440" cy="685800"/>
          </a:xfrm>
          <a:prstGeom prst="rect">
            <a:avLst/>
          </a:prstGeom>
          <a:noFill/>
          <a:ln/>
        </p:spPr>
        <p:txBody>
          <a:bodyPr wrap="square" lIns="0" tIns="0" rIns="0" bIns="0" rtlCol="0" anchor="ctr"/>
          <a:lstStyle/>
          <a:p>
            <a:pPr indent="0" marL="0">
              <a:buNone/>
            </a:pPr>
            <a:r>
              <a:rPr lang="en-US" sz="1250" dirty="0">
                <a:solidFill>
                  <a:srgbClr val="C7CFEA"/>
                </a:solidFill>
                <a:latin typeface="Calibri" pitchFamily="34" charset="0"/>
                <a:ea typeface="Calibri" pitchFamily="34" charset="-122"/>
                <a:cs typeface="Calibri" pitchFamily="34" charset="-120"/>
              </a:rPr>
              <a:t>Security, governance &amp; compliance for responsible AI use</a:t>
            </a:r>
            <a:endParaRPr lang="en-US" sz="1250" dirty="0"/>
          </a:p>
        </p:txBody>
      </p:sp>
      <p:sp>
        <p:nvSpPr>
          <p:cNvPr id="39" name="Text 3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3C7"/>
                </a:solidFill>
                <a:latin typeface="Calibri" pitchFamily="34" charset="0"/>
                <a:ea typeface="Calibri" pitchFamily="34" charset="-122"/>
                <a:cs typeface="Calibri" pitchFamily="34" charset="-120"/>
              </a:rPr>
              <a:t>AWS Gen AI Virtual Internship  •  Ayushi Singh</a:t>
            </a:r>
            <a:endParaRPr lang="en-US" sz="1000" dirty="0"/>
          </a:p>
        </p:txBody>
      </p:sp>
      <p:sp>
        <p:nvSpPr>
          <p:cNvPr id="40" name="Text 32"/>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200" b="1" spc="200" kern="0" dirty="0">
                <a:solidFill>
                  <a:srgbClr val="1B2450"/>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731520"/>
            <a:ext cx="10972800" cy="64008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The 8-Week Learning Journey</a:t>
            </a:r>
            <a:endParaRPr lang="en-US" sz="3000" dirty="0"/>
          </a:p>
        </p:txBody>
      </p:sp>
      <p:sp>
        <p:nvSpPr>
          <p:cNvPr id="4" name="Shape 2"/>
          <p:cNvSpPr/>
          <p:nvPr/>
        </p:nvSpPr>
        <p:spPr>
          <a:xfrm>
            <a:off x="548640" y="160020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731520" y="1783080"/>
            <a:ext cx="457200" cy="457200"/>
          </a:xfrm>
          <a:prstGeom prst="ellipse">
            <a:avLst/>
          </a:prstGeom>
          <a:solidFill>
            <a:srgbClr val="1B2450"/>
          </a:solidFill>
          <a:ln/>
        </p:spPr>
      </p:sp>
      <p:sp>
        <p:nvSpPr>
          <p:cNvPr id="6" name="Text 4"/>
          <p:cNvSpPr/>
          <p:nvPr/>
        </p:nvSpPr>
        <p:spPr>
          <a:xfrm>
            <a:off x="73152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280160" y="185623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8" name="Text 6"/>
          <p:cNvSpPr/>
          <p:nvPr/>
        </p:nvSpPr>
        <p:spPr>
          <a:xfrm>
            <a:off x="731520" y="237744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ML Foundation I</a:t>
            </a:r>
            <a:endParaRPr lang="en-US" sz="1300" dirty="0"/>
          </a:p>
        </p:txBody>
      </p:sp>
      <p:sp>
        <p:nvSpPr>
          <p:cNvPr id="9" name="Text 7"/>
          <p:cNvSpPr/>
          <p:nvPr/>
        </p:nvSpPr>
        <p:spPr>
          <a:xfrm>
            <a:off x="731520" y="288036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SageMaker demos, data splitting, training with XGBoost</a:t>
            </a:r>
            <a:endParaRPr lang="en-US" sz="950" dirty="0"/>
          </a:p>
        </p:txBody>
      </p:sp>
      <p:sp>
        <p:nvSpPr>
          <p:cNvPr id="10" name="Shape 8"/>
          <p:cNvSpPr/>
          <p:nvPr/>
        </p:nvSpPr>
        <p:spPr>
          <a:xfrm>
            <a:off x="3383280" y="160020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11" name="Shape 9"/>
          <p:cNvSpPr/>
          <p:nvPr/>
        </p:nvSpPr>
        <p:spPr>
          <a:xfrm>
            <a:off x="3566160" y="1783080"/>
            <a:ext cx="457200" cy="457200"/>
          </a:xfrm>
          <a:prstGeom prst="ellipse">
            <a:avLst/>
          </a:prstGeom>
          <a:solidFill>
            <a:srgbClr val="1B2450"/>
          </a:solidFill>
          <a:ln/>
        </p:spPr>
      </p:sp>
      <p:sp>
        <p:nvSpPr>
          <p:cNvPr id="12" name="Text 10"/>
          <p:cNvSpPr/>
          <p:nvPr/>
        </p:nvSpPr>
        <p:spPr>
          <a:xfrm>
            <a:off x="356616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114800" y="185623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14" name="Text 12"/>
          <p:cNvSpPr/>
          <p:nvPr/>
        </p:nvSpPr>
        <p:spPr>
          <a:xfrm>
            <a:off x="3566160" y="237744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ML Foundation II</a:t>
            </a:r>
            <a:endParaRPr lang="en-US" sz="1300" dirty="0"/>
          </a:p>
        </p:txBody>
      </p:sp>
      <p:sp>
        <p:nvSpPr>
          <p:cNvPr id="15" name="Text 13"/>
          <p:cNvSpPr/>
          <p:nvPr/>
        </p:nvSpPr>
        <p:spPr>
          <a:xfrm>
            <a:off x="3566160" y="288036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Forecasting, computer vision overview, NLP overview</a:t>
            </a:r>
            <a:endParaRPr lang="en-US" sz="950" dirty="0"/>
          </a:p>
        </p:txBody>
      </p:sp>
      <p:sp>
        <p:nvSpPr>
          <p:cNvPr id="16" name="Shape 14"/>
          <p:cNvSpPr/>
          <p:nvPr/>
        </p:nvSpPr>
        <p:spPr>
          <a:xfrm>
            <a:off x="6217920" y="160020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17" name="Shape 15"/>
          <p:cNvSpPr/>
          <p:nvPr/>
        </p:nvSpPr>
        <p:spPr>
          <a:xfrm>
            <a:off x="6400800" y="1783080"/>
            <a:ext cx="457200" cy="457200"/>
          </a:xfrm>
          <a:prstGeom prst="ellipse">
            <a:avLst/>
          </a:prstGeom>
          <a:solidFill>
            <a:srgbClr val="1B2450"/>
          </a:solidFill>
          <a:ln/>
        </p:spPr>
      </p:sp>
      <p:sp>
        <p:nvSpPr>
          <p:cNvPr id="18" name="Text 16"/>
          <p:cNvSpPr/>
          <p:nvPr/>
        </p:nvSpPr>
        <p:spPr>
          <a:xfrm>
            <a:off x="640080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949440" y="185623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20" name="Text 18"/>
          <p:cNvSpPr/>
          <p:nvPr/>
        </p:nvSpPr>
        <p:spPr>
          <a:xfrm>
            <a:off x="6400800" y="237744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ML Foundation III</a:t>
            </a:r>
            <a:endParaRPr lang="en-US" sz="1300" dirty="0"/>
          </a:p>
        </p:txBody>
      </p:sp>
      <p:sp>
        <p:nvSpPr>
          <p:cNvPr id="21" name="Text 19"/>
          <p:cNvSpPr/>
          <p:nvPr/>
        </p:nvSpPr>
        <p:spPr>
          <a:xfrm>
            <a:off x="6400800" y="288036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Generative AI, Amazon CodeWhisperer, AWS documentation</a:t>
            </a:r>
            <a:endParaRPr lang="en-US" sz="950" dirty="0"/>
          </a:p>
        </p:txBody>
      </p:sp>
      <p:sp>
        <p:nvSpPr>
          <p:cNvPr id="22" name="Shape 20"/>
          <p:cNvSpPr/>
          <p:nvPr/>
        </p:nvSpPr>
        <p:spPr>
          <a:xfrm>
            <a:off x="9052560" y="160020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23" name="Shape 21"/>
          <p:cNvSpPr/>
          <p:nvPr/>
        </p:nvSpPr>
        <p:spPr>
          <a:xfrm>
            <a:off x="9235440" y="1783080"/>
            <a:ext cx="457200" cy="457200"/>
          </a:xfrm>
          <a:prstGeom prst="ellipse">
            <a:avLst/>
          </a:prstGeom>
          <a:solidFill>
            <a:srgbClr val="1B2450"/>
          </a:solidFill>
          <a:ln/>
        </p:spPr>
      </p:sp>
      <p:sp>
        <p:nvSpPr>
          <p:cNvPr id="24" name="Text 22"/>
          <p:cNvSpPr/>
          <p:nvPr/>
        </p:nvSpPr>
        <p:spPr>
          <a:xfrm>
            <a:off x="923544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9784080" y="185623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26" name="Text 24"/>
          <p:cNvSpPr/>
          <p:nvPr/>
        </p:nvSpPr>
        <p:spPr>
          <a:xfrm>
            <a:off x="9235440" y="237744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NLP Fundamentals</a:t>
            </a:r>
            <a:endParaRPr lang="en-US" sz="1300" dirty="0"/>
          </a:p>
        </p:txBody>
      </p:sp>
      <p:sp>
        <p:nvSpPr>
          <p:cNvPr id="27" name="Text 25"/>
          <p:cNvSpPr/>
          <p:nvPr/>
        </p:nvSpPr>
        <p:spPr>
          <a:xfrm>
            <a:off x="9235440" y="288036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AWS Academy NLP, text processing techniques</a:t>
            </a:r>
            <a:endParaRPr lang="en-US" sz="950" dirty="0"/>
          </a:p>
        </p:txBody>
      </p:sp>
      <p:sp>
        <p:nvSpPr>
          <p:cNvPr id="28" name="Shape 26"/>
          <p:cNvSpPr/>
          <p:nvPr/>
        </p:nvSpPr>
        <p:spPr>
          <a:xfrm>
            <a:off x="548640" y="379476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29" name="Shape 27"/>
          <p:cNvSpPr/>
          <p:nvPr/>
        </p:nvSpPr>
        <p:spPr>
          <a:xfrm>
            <a:off x="731520" y="3977640"/>
            <a:ext cx="457200" cy="457200"/>
          </a:xfrm>
          <a:prstGeom prst="ellipse">
            <a:avLst/>
          </a:prstGeom>
          <a:solidFill>
            <a:srgbClr val="1B2450"/>
          </a:solidFill>
          <a:ln/>
        </p:spPr>
      </p:sp>
      <p:sp>
        <p:nvSpPr>
          <p:cNvPr id="30" name="Text 28"/>
          <p:cNvSpPr/>
          <p:nvPr/>
        </p:nvSpPr>
        <p:spPr>
          <a:xfrm>
            <a:off x="731520"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1280160" y="405079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32" name="Text 30"/>
          <p:cNvSpPr/>
          <p:nvPr/>
        </p:nvSpPr>
        <p:spPr>
          <a:xfrm>
            <a:off x="731520" y="457200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NLP Applications</a:t>
            </a:r>
            <a:endParaRPr lang="en-US" sz="1300" dirty="0"/>
          </a:p>
        </p:txBody>
      </p:sp>
      <p:sp>
        <p:nvSpPr>
          <p:cNvPr id="33" name="Text 31"/>
          <p:cNvSpPr/>
          <p:nvPr/>
        </p:nvSpPr>
        <p:spPr>
          <a:xfrm>
            <a:off x="731520" y="507492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Sentiment analysis, information extraction, topic modeling</a:t>
            </a:r>
            <a:endParaRPr lang="en-US" sz="950" dirty="0"/>
          </a:p>
        </p:txBody>
      </p:sp>
      <p:sp>
        <p:nvSpPr>
          <p:cNvPr id="34" name="Shape 32"/>
          <p:cNvSpPr/>
          <p:nvPr/>
        </p:nvSpPr>
        <p:spPr>
          <a:xfrm>
            <a:off x="3383280" y="379476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35" name="Shape 33"/>
          <p:cNvSpPr/>
          <p:nvPr/>
        </p:nvSpPr>
        <p:spPr>
          <a:xfrm>
            <a:off x="3566160" y="3977640"/>
            <a:ext cx="457200" cy="457200"/>
          </a:xfrm>
          <a:prstGeom prst="ellipse">
            <a:avLst/>
          </a:prstGeom>
          <a:solidFill>
            <a:srgbClr val="1B2450"/>
          </a:solidFill>
          <a:ln/>
        </p:spPr>
      </p:sp>
      <p:sp>
        <p:nvSpPr>
          <p:cNvPr id="36" name="Text 34"/>
          <p:cNvSpPr/>
          <p:nvPr/>
        </p:nvSpPr>
        <p:spPr>
          <a:xfrm>
            <a:off x="3566160"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7" name="Text 35"/>
          <p:cNvSpPr/>
          <p:nvPr/>
        </p:nvSpPr>
        <p:spPr>
          <a:xfrm>
            <a:off x="4114800" y="405079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38" name="Text 36"/>
          <p:cNvSpPr/>
          <p:nvPr/>
        </p:nvSpPr>
        <p:spPr>
          <a:xfrm>
            <a:off x="3566160" y="457200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NLP Wrap-up</a:t>
            </a:r>
            <a:endParaRPr lang="en-US" sz="1300" dirty="0"/>
          </a:p>
        </p:txBody>
      </p:sp>
      <p:sp>
        <p:nvSpPr>
          <p:cNvPr id="39" name="Text 37"/>
          <p:cNvSpPr/>
          <p:nvPr/>
        </p:nvSpPr>
        <p:spPr>
          <a:xfrm>
            <a:off x="3566160" y="507492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Working with languages, generative AI solutions</a:t>
            </a:r>
            <a:endParaRPr lang="en-US" sz="950" dirty="0"/>
          </a:p>
        </p:txBody>
      </p:sp>
      <p:sp>
        <p:nvSpPr>
          <p:cNvPr id="40" name="Shape 38"/>
          <p:cNvSpPr/>
          <p:nvPr/>
        </p:nvSpPr>
        <p:spPr>
          <a:xfrm>
            <a:off x="6217920" y="379476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41" name="Shape 39"/>
          <p:cNvSpPr/>
          <p:nvPr/>
        </p:nvSpPr>
        <p:spPr>
          <a:xfrm>
            <a:off x="6400800" y="3977640"/>
            <a:ext cx="457200" cy="457200"/>
          </a:xfrm>
          <a:prstGeom prst="ellipse">
            <a:avLst/>
          </a:prstGeom>
          <a:solidFill>
            <a:srgbClr val="1B2450"/>
          </a:solidFill>
          <a:ln/>
        </p:spPr>
      </p:sp>
      <p:sp>
        <p:nvSpPr>
          <p:cNvPr id="42" name="Text 40"/>
          <p:cNvSpPr/>
          <p:nvPr/>
        </p:nvSpPr>
        <p:spPr>
          <a:xfrm>
            <a:off x="6400800"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43" name="Text 41"/>
          <p:cNvSpPr/>
          <p:nvPr/>
        </p:nvSpPr>
        <p:spPr>
          <a:xfrm>
            <a:off x="6949440" y="405079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44" name="Text 42"/>
          <p:cNvSpPr/>
          <p:nvPr/>
        </p:nvSpPr>
        <p:spPr>
          <a:xfrm>
            <a:off x="6400800" y="457200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Gen AI Foundations I</a:t>
            </a:r>
            <a:endParaRPr lang="en-US" sz="1300" dirty="0"/>
          </a:p>
        </p:txBody>
      </p:sp>
      <p:sp>
        <p:nvSpPr>
          <p:cNvPr id="45" name="Text 43"/>
          <p:cNvSpPr/>
          <p:nvPr/>
        </p:nvSpPr>
        <p:spPr>
          <a:xfrm>
            <a:off x="6400800" y="507492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AI fundamentals, prompts, prompt engineering, Foundation Model</a:t>
            </a:r>
            <a:endParaRPr lang="en-US" sz="950" dirty="0"/>
          </a:p>
        </p:txBody>
      </p:sp>
      <p:sp>
        <p:nvSpPr>
          <p:cNvPr id="46" name="Shape 44"/>
          <p:cNvSpPr/>
          <p:nvPr/>
        </p:nvSpPr>
        <p:spPr>
          <a:xfrm>
            <a:off x="9052560" y="3794760"/>
            <a:ext cx="2606040" cy="1920240"/>
          </a:xfrm>
          <a:prstGeom prst="roundRect">
            <a:avLst>
              <a:gd name="adj" fmla="val 2857"/>
            </a:avLst>
          </a:prstGeom>
          <a:solidFill>
            <a:srgbClr val="FFFFFF"/>
          </a:solidFill>
          <a:ln/>
          <a:effectLst>
            <a:outerShdw sx="100000" sy="100000" kx="0" ky="0" algn="bl" rotWithShape="0" blurRad="76200" dist="25400" dir="5400000">
              <a:srgbClr val="000000">
                <a:alpha val="10000"/>
              </a:srgbClr>
            </a:outerShdw>
          </a:effectLst>
        </p:spPr>
      </p:sp>
      <p:sp>
        <p:nvSpPr>
          <p:cNvPr id="47" name="Shape 45"/>
          <p:cNvSpPr/>
          <p:nvPr/>
        </p:nvSpPr>
        <p:spPr>
          <a:xfrm>
            <a:off x="9235440" y="3977640"/>
            <a:ext cx="457200" cy="457200"/>
          </a:xfrm>
          <a:prstGeom prst="ellipse">
            <a:avLst/>
          </a:prstGeom>
          <a:solidFill>
            <a:srgbClr val="1B2450"/>
          </a:solidFill>
          <a:ln/>
        </p:spPr>
      </p:sp>
      <p:sp>
        <p:nvSpPr>
          <p:cNvPr id="48" name="Text 46"/>
          <p:cNvSpPr/>
          <p:nvPr/>
        </p:nvSpPr>
        <p:spPr>
          <a:xfrm>
            <a:off x="9235440" y="3977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9" name="Text 47"/>
          <p:cNvSpPr/>
          <p:nvPr/>
        </p:nvSpPr>
        <p:spPr>
          <a:xfrm>
            <a:off x="9784080" y="4050792"/>
            <a:ext cx="1645920" cy="274320"/>
          </a:xfrm>
          <a:prstGeom prst="rect">
            <a:avLst/>
          </a:prstGeom>
          <a:noFill/>
          <a:ln/>
        </p:spPr>
        <p:txBody>
          <a:bodyPr wrap="square" lIns="0" tIns="0" rIns="0" bIns="0" rtlCol="0" anchor="ctr"/>
          <a:lstStyle/>
          <a:p>
            <a:pPr indent="0" marL="0">
              <a:buNone/>
            </a:pPr>
            <a:r>
              <a:rPr lang="en-US" sz="1000" b="1" spc="100" kern="0" dirty="0">
                <a:solidFill>
                  <a:srgbClr val="C77D12"/>
                </a:solidFill>
                <a:latin typeface="Calibri" pitchFamily="34" charset="0"/>
                <a:ea typeface="Calibri" pitchFamily="34" charset="-122"/>
                <a:cs typeface="Calibri" pitchFamily="34" charset="-120"/>
              </a:rPr>
              <a:t>WEEK</a:t>
            </a:r>
            <a:endParaRPr lang="en-US" sz="1000" dirty="0"/>
          </a:p>
        </p:txBody>
      </p:sp>
      <p:sp>
        <p:nvSpPr>
          <p:cNvPr id="50" name="Text 48"/>
          <p:cNvSpPr/>
          <p:nvPr/>
        </p:nvSpPr>
        <p:spPr>
          <a:xfrm>
            <a:off x="9235440" y="4572000"/>
            <a:ext cx="2240280" cy="502920"/>
          </a:xfrm>
          <a:prstGeom prst="rect">
            <a:avLst/>
          </a:prstGeom>
          <a:noFill/>
          <a:ln/>
        </p:spPr>
        <p:txBody>
          <a:bodyPr wrap="square" lIns="0" tIns="0" rIns="0" bIns="0" rtlCol="0" anchor="ctr"/>
          <a:lstStyle/>
          <a:p>
            <a:pPr indent="0" marL="0">
              <a:buNone/>
            </a:pPr>
            <a:r>
              <a:rPr lang="en-US" sz="1300" b="1" dirty="0">
                <a:solidFill>
                  <a:srgbClr val="1A1A2E"/>
                </a:solidFill>
                <a:latin typeface="Cambria" pitchFamily="34" charset="0"/>
                <a:ea typeface="Cambria" pitchFamily="34" charset="-122"/>
                <a:cs typeface="Cambria" pitchFamily="34" charset="-120"/>
              </a:rPr>
              <a:t>Gen AI Foundations II</a:t>
            </a:r>
            <a:endParaRPr lang="en-US" sz="1300" dirty="0"/>
          </a:p>
        </p:txBody>
      </p:sp>
      <p:sp>
        <p:nvSpPr>
          <p:cNvPr id="51" name="Text 49"/>
          <p:cNvSpPr/>
          <p:nvPr/>
        </p:nvSpPr>
        <p:spPr>
          <a:xfrm>
            <a:off x="9235440" y="5074920"/>
            <a:ext cx="2240280" cy="548640"/>
          </a:xfrm>
          <a:prstGeom prst="rect">
            <a:avLst/>
          </a:prstGeom>
          <a:noFill/>
          <a:ln/>
        </p:spPr>
        <p:txBody>
          <a:bodyPr wrap="square" lIns="0" tIns="0" rIns="0" bIns="0" rtlCol="0" anchor="ctr"/>
          <a:lstStyle/>
          <a:p>
            <a:pPr indent="0" marL="0">
              <a:lnSpc>
                <a:spcPts val="1200"/>
              </a:lnSpc>
              <a:buNone/>
            </a:pPr>
            <a:r>
              <a:rPr lang="en-US" sz="950" dirty="0">
                <a:solidFill>
                  <a:srgbClr val="6B7280"/>
                </a:solidFill>
                <a:latin typeface="Calibri" pitchFamily="34" charset="0"/>
                <a:ea typeface="Calibri" pitchFamily="34" charset="-122"/>
                <a:cs typeface="Calibri" pitchFamily="34" charset="-120"/>
              </a:rPr>
              <a:t>Responsible AI, security, governance &amp; compliance</a:t>
            </a:r>
            <a:endParaRPr lang="en-US" sz="950" dirty="0"/>
          </a:p>
        </p:txBody>
      </p:sp>
      <p:sp>
        <p:nvSpPr>
          <p:cNvPr id="52" name="Text 5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53" name="Text 51"/>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lIns="0" tIns="0" rIns="0" bIns="0" rtlCol="0" anchor="ctr"/>
          <a:lstStyle/>
          <a:p>
            <a:pPr indent="0" marL="0">
              <a:buNone/>
            </a:pPr>
            <a:r>
              <a:rPr lang="en-US" sz="1200" b="1" spc="200" kern="0" dirty="0">
                <a:solidFill>
                  <a:srgbClr val="1B2450"/>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502920" y="731520"/>
            <a:ext cx="10972800" cy="640080"/>
          </a:xfrm>
          <a:prstGeom prst="rect">
            <a:avLst/>
          </a:prstGeom>
          <a:noFill/>
          <a:ln/>
        </p:spPr>
        <p:txBody>
          <a:bodyPr wrap="square" lIns="0" tIns="0" rIns="0" bIns="0"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Skills &amp; Capabilities Gained</a:t>
            </a:r>
            <a:endParaRPr lang="en-US" sz="3000" dirty="0"/>
          </a:p>
        </p:txBody>
      </p:sp>
      <p:sp>
        <p:nvSpPr>
          <p:cNvPr id="4" name="Shape 2"/>
          <p:cNvSpPr/>
          <p:nvPr/>
        </p:nvSpPr>
        <p:spPr>
          <a:xfrm>
            <a:off x="548640" y="1691640"/>
            <a:ext cx="384048" cy="384048"/>
          </a:xfrm>
          <a:prstGeom prst="ellipse">
            <a:avLst/>
          </a:prstGeom>
          <a:solidFill>
            <a:srgbClr val="1B2450"/>
          </a:solidFill>
          <a:ln/>
        </p:spPr>
      </p:sp>
      <p:pic>
        <p:nvPicPr>
          <p:cNvPr id="5" name="Image 0" descr="icon_check.png">    </p:cNvPr>
          <p:cNvPicPr>
            <a:picLocks noChangeAspect="1"/>
          </p:cNvPicPr>
          <p:nvPr/>
        </p:nvPicPr>
        <p:blipFill>
          <a:blip r:embed="rId1"/>
          <a:stretch>
            <a:fillRect/>
          </a:stretch>
        </p:blipFill>
        <p:spPr>
          <a:xfrm>
            <a:off x="640080" y="1783080"/>
            <a:ext cx="201168" cy="201168"/>
          </a:xfrm>
          <a:prstGeom prst="rect">
            <a:avLst/>
          </a:prstGeom>
        </p:spPr>
      </p:pic>
      <p:sp>
        <p:nvSpPr>
          <p:cNvPr id="6" name="Text 3"/>
          <p:cNvSpPr/>
          <p:nvPr/>
        </p:nvSpPr>
        <p:spPr>
          <a:xfrm>
            <a:off x="1143000" y="1636776"/>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Ability to solve ML problems and train models using Amazon SageMaker and XGBoost</a:t>
            </a:r>
            <a:endParaRPr lang="en-US" sz="1450" dirty="0"/>
          </a:p>
        </p:txBody>
      </p:sp>
      <p:sp>
        <p:nvSpPr>
          <p:cNvPr id="7" name="Shape 4"/>
          <p:cNvSpPr/>
          <p:nvPr/>
        </p:nvSpPr>
        <p:spPr>
          <a:xfrm>
            <a:off x="548640" y="2350008"/>
            <a:ext cx="384048" cy="384048"/>
          </a:xfrm>
          <a:prstGeom prst="ellipse">
            <a:avLst/>
          </a:prstGeom>
          <a:solidFill>
            <a:srgbClr val="1B2450"/>
          </a:solidFill>
          <a:ln/>
        </p:spPr>
      </p:sp>
      <p:pic>
        <p:nvPicPr>
          <p:cNvPr id="8" name="Image 1" descr="icon_check.png">    </p:cNvPr>
          <p:cNvPicPr>
            <a:picLocks noChangeAspect="1"/>
          </p:cNvPicPr>
          <p:nvPr/>
        </p:nvPicPr>
        <p:blipFill>
          <a:blip r:embed="rId2"/>
          <a:stretch>
            <a:fillRect/>
          </a:stretch>
        </p:blipFill>
        <p:spPr>
          <a:xfrm>
            <a:off x="640080" y="2441448"/>
            <a:ext cx="201168" cy="201168"/>
          </a:xfrm>
          <a:prstGeom prst="rect">
            <a:avLst/>
          </a:prstGeom>
        </p:spPr>
      </p:pic>
      <p:sp>
        <p:nvSpPr>
          <p:cNvPr id="9" name="Text 5"/>
          <p:cNvSpPr/>
          <p:nvPr/>
        </p:nvSpPr>
        <p:spPr>
          <a:xfrm>
            <a:off x="1143000" y="2295144"/>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Working understanding of forecasting with AWS managed services and computer vision overview</a:t>
            </a:r>
            <a:endParaRPr lang="en-US" sz="1450" dirty="0"/>
          </a:p>
        </p:txBody>
      </p:sp>
      <p:sp>
        <p:nvSpPr>
          <p:cNvPr id="10" name="Shape 6"/>
          <p:cNvSpPr/>
          <p:nvPr/>
        </p:nvSpPr>
        <p:spPr>
          <a:xfrm>
            <a:off x="548640" y="3008376"/>
            <a:ext cx="384048" cy="384048"/>
          </a:xfrm>
          <a:prstGeom prst="ellipse">
            <a:avLst/>
          </a:prstGeom>
          <a:solidFill>
            <a:srgbClr val="1B2450"/>
          </a:solidFill>
          <a:ln/>
        </p:spPr>
      </p:sp>
      <p:pic>
        <p:nvPicPr>
          <p:cNvPr id="11" name="Image 2" descr="icon_check.png">    </p:cNvPr>
          <p:cNvPicPr>
            <a:picLocks noChangeAspect="1"/>
          </p:cNvPicPr>
          <p:nvPr/>
        </p:nvPicPr>
        <p:blipFill>
          <a:blip r:embed="rId3"/>
          <a:stretch>
            <a:fillRect/>
          </a:stretch>
        </p:blipFill>
        <p:spPr>
          <a:xfrm>
            <a:off x="640080" y="3099816"/>
            <a:ext cx="201168" cy="201168"/>
          </a:xfrm>
          <a:prstGeom prst="rect">
            <a:avLst/>
          </a:prstGeom>
        </p:spPr>
      </p:pic>
      <p:sp>
        <p:nvSpPr>
          <p:cNvPr id="12" name="Text 7"/>
          <p:cNvSpPr/>
          <p:nvPr/>
        </p:nvSpPr>
        <p:spPr>
          <a:xfrm>
            <a:off x="1143000" y="2953512"/>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Practical exposure to NLP — text processing, sentiment analysis, information extraction &amp; topic modeling</a:t>
            </a:r>
            <a:endParaRPr lang="en-US" sz="1450" dirty="0"/>
          </a:p>
        </p:txBody>
      </p:sp>
      <p:sp>
        <p:nvSpPr>
          <p:cNvPr id="13" name="Shape 8"/>
          <p:cNvSpPr/>
          <p:nvPr/>
        </p:nvSpPr>
        <p:spPr>
          <a:xfrm>
            <a:off x="548640" y="3666744"/>
            <a:ext cx="384048" cy="384048"/>
          </a:xfrm>
          <a:prstGeom prst="ellipse">
            <a:avLst/>
          </a:prstGeom>
          <a:solidFill>
            <a:srgbClr val="1B2450"/>
          </a:solidFill>
          <a:ln/>
        </p:spPr>
      </p:sp>
      <p:pic>
        <p:nvPicPr>
          <p:cNvPr id="14" name="Image 3" descr="icon_check.png">    </p:cNvPr>
          <p:cNvPicPr>
            <a:picLocks noChangeAspect="1"/>
          </p:cNvPicPr>
          <p:nvPr/>
        </p:nvPicPr>
        <p:blipFill>
          <a:blip r:embed="rId4"/>
          <a:stretch>
            <a:fillRect/>
          </a:stretch>
        </p:blipFill>
        <p:spPr>
          <a:xfrm>
            <a:off x="640080" y="3758184"/>
            <a:ext cx="201168" cy="201168"/>
          </a:xfrm>
          <a:prstGeom prst="rect">
            <a:avLst/>
          </a:prstGeom>
        </p:spPr>
      </p:pic>
      <p:sp>
        <p:nvSpPr>
          <p:cNvPr id="15" name="Text 9"/>
          <p:cNvSpPr/>
          <p:nvPr/>
        </p:nvSpPr>
        <p:spPr>
          <a:xfrm>
            <a:off x="1143000" y="3611880"/>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Understanding of Generative AI foundations, including prompts, prompt engineering &amp; foundation models</a:t>
            </a:r>
            <a:endParaRPr lang="en-US" sz="1450" dirty="0"/>
          </a:p>
        </p:txBody>
      </p:sp>
      <p:sp>
        <p:nvSpPr>
          <p:cNvPr id="16" name="Shape 10"/>
          <p:cNvSpPr/>
          <p:nvPr/>
        </p:nvSpPr>
        <p:spPr>
          <a:xfrm>
            <a:off x="548640" y="4325112"/>
            <a:ext cx="384048" cy="384048"/>
          </a:xfrm>
          <a:prstGeom prst="ellipse">
            <a:avLst/>
          </a:prstGeom>
          <a:solidFill>
            <a:srgbClr val="1B2450"/>
          </a:solidFill>
          <a:ln/>
        </p:spPr>
      </p:sp>
      <p:pic>
        <p:nvPicPr>
          <p:cNvPr id="17" name="Image 4" descr="icon_check.png">    </p:cNvPr>
          <p:cNvPicPr>
            <a:picLocks noChangeAspect="1"/>
          </p:cNvPicPr>
          <p:nvPr/>
        </p:nvPicPr>
        <p:blipFill>
          <a:blip r:embed="rId5"/>
          <a:stretch>
            <a:fillRect/>
          </a:stretch>
        </p:blipFill>
        <p:spPr>
          <a:xfrm>
            <a:off x="640080" y="4416552"/>
            <a:ext cx="201168" cy="201168"/>
          </a:xfrm>
          <a:prstGeom prst="rect">
            <a:avLst/>
          </a:prstGeom>
        </p:spPr>
      </p:pic>
      <p:sp>
        <p:nvSpPr>
          <p:cNvPr id="18" name="Text 11"/>
          <p:cNvSpPr/>
          <p:nvPr/>
        </p:nvSpPr>
        <p:spPr>
          <a:xfrm>
            <a:off x="1143000" y="4270248"/>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Awareness of security, governance &amp; compliance for using Generative AI responsibly</a:t>
            </a:r>
            <a:endParaRPr lang="en-US" sz="1450" dirty="0"/>
          </a:p>
        </p:txBody>
      </p:sp>
      <p:sp>
        <p:nvSpPr>
          <p:cNvPr id="19" name="Shape 12"/>
          <p:cNvSpPr/>
          <p:nvPr/>
        </p:nvSpPr>
        <p:spPr>
          <a:xfrm>
            <a:off x="548640" y="4983480"/>
            <a:ext cx="384048" cy="384048"/>
          </a:xfrm>
          <a:prstGeom prst="ellipse">
            <a:avLst/>
          </a:prstGeom>
          <a:solidFill>
            <a:srgbClr val="1B2450"/>
          </a:solidFill>
          <a:ln/>
        </p:spPr>
      </p:sp>
      <p:pic>
        <p:nvPicPr>
          <p:cNvPr id="20" name="Image 5" descr="icon_check.png">    </p:cNvPr>
          <p:cNvPicPr>
            <a:picLocks noChangeAspect="1"/>
          </p:cNvPicPr>
          <p:nvPr/>
        </p:nvPicPr>
        <p:blipFill>
          <a:blip r:embed="rId6"/>
          <a:stretch>
            <a:fillRect/>
          </a:stretch>
        </p:blipFill>
        <p:spPr>
          <a:xfrm>
            <a:off x="640080" y="5074920"/>
            <a:ext cx="201168" cy="201168"/>
          </a:xfrm>
          <a:prstGeom prst="rect">
            <a:avLst/>
          </a:prstGeom>
        </p:spPr>
      </p:pic>
      <p:sp>
        <p:nvSpPr>
          <p:cNvPr id="21" name="Text 13"/>
          <p:cNvSpPr/>
          <p:nvPr/>
        </p:nvSpPr>
        <p:spPr>
          <a:xfrm>
            <a:off x="1143000" y="4928616"/>
            <a:ext cx="10424160" cy="502920"/>
          </a:xfrm>
          <a:prstGeom prst="rect">
            <a:avLst/>
          </a:prstGeom>
          <a:noFill/>
          <a:ln/>
        </p:spPr>
        <p:txBody>
          <a:bodyPr wrap="square" lIns="0" tIns="0" rIns="0" bIns="0" rtlCol="0" anchor="ctr"/>
          <a:lstStyle/>
          <a:p>
            <a:pPr indent="0" marL="0">
              <a:buNone/>
            </a:pPr>
            <a:r>
              <a:rPr lang="en-US" sz="1450" dirty="0">
                <a:solidFill>
                  <a:srgbClr val="1A1A2E"/>
                </a:solidFill>
                <a:latin typeface="Calibri" pitchFamily="34" charset="0"/>
                <a:ea typeface="Calibri" pitchFamily="34" charset="-122"/>
                <a:cs typeface="Calibri" pitchFamily="34" charset="-120"/>
              </a:rPr>
              <a:t>Cleared the Final Assessment Test and Internship Grade Point Assessment with an “Outstanding” grade</a:t>
            </a:r>
            <a:endParaRPr lang="en-US" sz="1450" dirty="0"/>
          </a:p>
        </p:txBody>
      </p:sp>
      <p:sp>
        <p:nvSpPr>
          <p:cNvPr id="22" name="Text 1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B7280"/>
                </a:solidFill>
                <a:latin typeface="Calibri" pitchFamily="34" charset="0"/>
                <a:ea typeface="Calibri" pitchFamily="34" charset="-122"/>
                <a:cs typeface="Calibri" pitchFamily="34" charset="-120"/>
              </a:rPr>
              <a:t>AWS Gen AI Virtual Internship  •  Ayushi Singh</a:t>
            </a:r>
            <a:endParaRPr lang="en-US" sz="1000" dirty="0"/>
          </a:p>
        </p:txBody>
      </p:sp>
      <p:sp>
        <p:nvSpPr>
          <p:cNvPr id="23" name="Text 15"/>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450"/>
        </a:solidFill>
      </p:bgPr>
    </p:bg>
    <p:spTree>
      <p:nvGrpSpPr>
        <p:cNvPr id="1" name=""/>
        <p:cNvGrpSpPr/>
        <p:nvPr/>
      </p:nvGrpSpPr>
      <p:grpSpPr>
        <a:xfrm>
          <a:off x="0" y="0"/>
          <a:ext cx="0" cy="0"/>
          <a:chOff x="0" y="0"/>
          <a:chExt cx="0" cy="0"/>
        </a:xfrm>
      </p:grpSpPr>
      <p:sp>
        <p:nvSpPr>
          <p:cNvPr id="2" name="Shape 0"/>
          <p:cNvSpPr/>
          <p:nvPr/>
        </p:nvSpPr>
        <p:spPr>
          <a:xfrm>
            <a:off x="-1828800" y="-1828800"/>
            <a:ext cx="4114800" cy="4114800"/>
          </a:xfrm>
          <a:prstGeom prst="ellipse">
            <a:avLst/>
          </a:prstGeom>
          <a:solidFill>
            <a:srgbClr val="232C6B"/>
          </a:solidFill>
          <a:ln/>
        </p:spPr>
      </p:sp>
      <p:sp>
        <p:nvSpPr>
          <p:cNvPr id="3" name="Text 1"/>
          <p:cNvSpPr/>
          <p:nvPr/>
        </p:nvSpPr>
        <p:spPr>
          <a:xfrm>
            <a:off x="548640" y="502920"/>
            <a:ext cx="54864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CERTIFICATION</a:t>
            </a:r>
            <a:endParaRPr lang="en-US" sz="1200" dirty="0"/>
          </a:p>
        </p:txBody>
      </p:sp>
      <p:sp>
        <p:nvSpPr>
          <p:cNvPr id="4" name="Text 2"/>
          <p:cNvSpPr/>
          <p:nvPr/>
        </p:nvSpPr>
        <p:spPr>
          <a:xfrm>
            <a:off x="502920" y="822960"/>
            <a:ext cx="5486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Successfully Completed</a:t>
            </a:r>
            <a:endParaRPr lang="en-US" sz="3200" dirty="0"/>
          </a:p>
        </p:txBody>
      </p:sp>
      <p:sp>
        <p:nvSpPr>
          <p:cNvPr id="5" name="Shape 3"/>
          <p:cNvSpPr/>
          <p:nvPr/>
        </p:nvSpPr>
        <p:spPr>
          <a:xfrm>
            <a:off x="548640" y="1965960"/>
            <a:ext cx="457200" cy="457200"/>
          </a:xfrm>
          <a:prstGeom prst="ellipse">
            <a:avLst/>
          </a:prstGeom>
          <a:solidFill>
            <a:srgbClr val="232C6B"/>
          </a:solidFill>
          <a:ln/>
        </p:spPr>
      </p:sp>
      <p:pic>
        <p:nvPicPr>
          <p:cNvPr id="6" name="Image 0" descr="icon_certificate.png">    </p:cNvPr>
          <p:cNvPicPr>
            <a:picLocks noChangeAspect="1"/>
          </p:cNvPicPr>
          <p:nvPr/>
        </p:nvPicPr>
        <p:blipFill>
          <a:blip r:embed="rId1"/>
          <a:stretch>
            <a:fillRect/>
          </a:stretch>
        </p:blipFill>
        <p:spPr>
          <a:xfrm>
            <a:off x="667512" y="2075688"/>
            <a:ext cx="237744" cy="237744"/>
          </a:xfrm>
          <a:prstGeom prst="rect">
            <a:avLst/>
          </a:prstGeom>
        </p:spPr>
      </p:pic>
      <p:sp>
        <p:nvSpPr>
          <p:cNvPr id="7" name="Text 4"/>
          <p:cNvSpPr/>
          <p:nvPr/>
        </p:nvSpPr>
        <p:spPr>
          <a:xfrm>
            <a:off x="1188720" y="1938528"/>
            <a:ext cx="4114800" cy="256032"/>
          </a:xfrm>
          <a:prstGeom prst="rect">
            <a:avLst/>
          </a:prstGeom>
          <a:noFill/>
          <a:ln/>
        </p:spPr>
        <p:txBody>
          <a:bodyPr wrap="square" lIns="0" tIns="0" rIns="0" bIns="0" rtlCol="0" anchor="ctr"/>
          <a:lstStyle/>
          <a:p>
            <a:pPr indent="0" marL="0">
              <a:buNone/>
            </a:pPr>
            <a:r>
              <a:rPr lang="en-US" sz="1100" b="1" spc="100" kern="0" dirty="0">
                <a:solidFill>
                  <a:srgbClr val="9AA3C7"/>
                </a:solidFill>
                <a:latin typeface="Calibri" pitchFamily="34" charset="0"/>
                <a:ea typeface="Calibri" pitchFamily="34" charset="-122"/>
                <a:cs typeface="Calibri" pitchFamily="34" charset="-120"/>
              </a:rPr>
              <a:t>GRADE</a:t>
            </a:r>
            <a:endParaRPr lang="en-US" sz="1100" dirty="0"/>
          </a:p>
        </p:txBody>
      </p:sp>
      <p:sp>
        <p:nvSpPr>
          <p:cNvPr id="8" name="Text 5"/>
          <p:cNvSpPr/>
          <p:nvPr/>
        </p:nvSpPr>
        <p:spPr>
          <a:xfrm>
            <a:off x="1188720" y="2167128"/>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O – Outstanding</a:t>
            </a:r>
            <a:endParaRPr lang="en-US" sz="1500" dirty="0"/>
          </a:p>
        </p:txBody>
      </p:sp>
      <p:sp>
        <p:nvSpPr>
          <p:cNvPr id="9" name="Shape 6"/>
          <p:cNvSpPr/>
          <p:nvPr/>
        </p:nvSpPr>
        <p:spPr>
          <a:xfrm>
            <a:off x="548640" y="2743200"/>
            <a:ext cx="457200" cy="457200"/>
          </a:xfrm>
          <a:prstGeom prst="ellipse">
            <a:avLst/>
          </a:prstGeom>
          <a:solidFill>
            <a:srgbClr val="232C6B"/>
          </a:solidFill>
          <a:ln/>
        </p:spPr>
      </p:sp>
      <p:pic>
        <p:nvPicPr>
          <p:cNvPr id="10" name="Image 1" descr="icon_idcard.png">    </p:cNvPr>
          <p:cNvPicPr>
            <a:picLocks noChangeAspect="1"/>
          </p:cNvPicPr>
          <p:nvPr/>
        </p:nvPicPr>
        <p:blipFill>
          <a:blip r:embed="rId2"/>
          <a:stretch>
            <a:fillRect/>
          </a:stretch>
        </p:blipFill>
        <p:spPr>
          <a:xfrm>
            <a:off x="667512" y="2852928"/>
            <a:ext cx="237744" cy="237744"/>
          </a:xfrm>
          <a:prstGeom prst="rect">
            <a:avLst/>
          </a:prstGeom>
        </p:spPr>
      </p:pic>
      <p:sp>
        <p:nvSpPr>
          <p:cNvPr id="11" name="Text 7"/>
          <p:cNvSpPr/>
          <p:nvPr/>
        </p:nvSpPr>
        <p:spPr>
          <a:xfrm>
            <a:off x="1188720" y="2715768"/>
            <a:ext cx="4114800" cy="256032"/>
          </a:xfrm>
          <a:prstGeom prst="rect">
            <a:avLst/>
          </a:prstGeom>
          <a:noFill/>
          <a:ln/>
        </p:spPr>
        <p:txBody>
          <a:bodyPr wrap="square" lIns="0" tIns="0" rIns="0" bIns="0" rtlCol="0" anchor="ctr"/>
          <a:lstStyle/>
          <a:p>
            <a:pPr indent="0" marL="0">
              <a:buNone/>
            </a:pPr>
            <a:r>
              <a:rPr lang="en-US" sz="1100" b="1" spc="100" kern="0" dirty="0">
                <a:solidFill>
                  <a:srgbClr val="9AA3C7"/>
                </a:solidFill>
                <a:latin typeface="Calibri" pitchFamily="34" charset="0"/>
                <a:ea typeface="Calibri" pitchFamily="34" charset="-122"/>
                <a:cs typeface="Calibri" pitchFamily="34" charset="-120"/>
              </a:rPr>
              <a:t>CERTIFICATE ID</a:t>
            </a:r>
            <a:endParaRPr lang="en-US" sz="1100" dirty="0"/>
          </a:p>
        </p:txBody>
      </p:sp>
      <p:sp>
        <p:nvSpPr>
          <p:cNvPr id="12" name="Text 8"/>
          <p:cNvSpPr/>
          <p:nvPr/>
        </p:nvSpPr>
        <p:spPr>
          <a:xfrm>
            <a:off x="1188720" y="2944368"/>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4fb8887c10a0ef165878</a:t>
            </a:r>
            <a:endParaRPr lang="en-US" sz="1500" dirty="0"/>
          </a:p>
        </p:txBody>
      </p:sp>
      <p:sp>
        <p:nvSpPr>
          <p:cNvPr id="13" name="Shape 9"/>
          <p:cNvSpPr/>
          <p:nvPr/>
        </p:nvSpPr>
        <p:spPr>
          <a:xfrm>
            <a:off x="548640" y="3520440"/>
            <a:ext cx="457200" cy="457200"/>
          </a:xfrm>
          <a:prstGeom prst="ellipse">
            <a:avLst/>
          </a:prstGeom>
          <a:solidFill>
            <a:srgbClr val="232C6B"/>
          </a:solidFill>
          <a:ln/>
        </p:spPr>
      </p:sp>
      <p:pic>
        <p:nvPicPr>
          <p:cNvPr id="14" name="Image 2" descr="icon_idcard.png">    </p:cNvPr>
          <p:cNvPicPr>
            <a:picLocks noChangeAspect="1"/>
          </p:cNvPicPr>
          <p:nvPr/>
        </p:nvPicPr>
        <p:blipFill>
          <a:blip r:embed="rId3"/>
          <a:stretch>
            <a:fillRect/>
          </a:stretch>
        </p:blipFill>
        <p:spPr>
          <a:xfrm>
            <a:off x="667512" y="3630168"/>
            <a:ext cx="237744" cy="237744"/>
          </a:xfrm>
          <a:prstGeom prst="rect">
            <a:avLst/>
          </a:prstGeom>
        </p:spPr>
      </p:pic>
      <p:sp>
        <p:nvSpPr>
          <p:cNvPr id="15" name="Text 10"/>
          <p:cNvSpPr/>
          <p:nvPr/>
        </p:nvSpPr>
        <p:spPr>
          <a:xfrm>
            <a:off x="1188720" y="3493008"/>
            <a:ext cx="4114800" cy="256032"/>
          </a:xfrm>
          <a:prstGeom prst="rect">
            <a:avLst/>
          </a:prstGeom>
          <a:noFill/>
          <a:ln/>
        </p:spPr>
        <p:txBody>
          <a:bodyPr wrap="square" lIns="0" tIns="0" rIns="0" bIns="0" rtlCol="0" anchor="ctr"/>
          <a:lstStyle/>
          <a:p>
            <a:pPr indent="0" marL="0">
              <a:buNone/>
            </a:pPr>
            <a:r>
              <a:rPr lang="en-US" sz="1100" b="1" spc="100" kern="0" dirty="0">
                <a:solidFill>
                  <a:srgbClr val="9AA3C7"/>
                </a:solidFill>
                <a:latin typeface="Calibri" pitchFamily="34" charset="0"/>
                <a:ea typeface="Calibri" pitchFamily="34" charset="-122"/>
                <a:cs typeface="Calibri" pitchFamily="34" charset="-120"/>
              </a:rPr>
              <a:t>STUDENT ID</a:t>
            </a:r>
            <a:endParaRPr lang="en-US" sz="1100" dirty="0"/>
          </a:p>
        </p:txBody>
      </p:sp>
      <p:sp>
        <p:nvSpPr>
          <p:cNvPr id="16" name="Text 11"/>
          <p:cNvSpPr/>
          <p:nvPr/>
        </p:nvSpPr>
        <p:spPr>
          <a:xfrm>
            <a:off x="1188720" y="3721608"/>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STU69e63c9a3e7a01776696474</a:t>
            </a:r>
            <a:endParaRPr lang="en-US" sz="1500" dirty="0"/>
          </a:p>
        </p:txBody>
      </p:sp>
      <p:sp>
        <p:nvSpPr>
          <p:cNvPr id="17" name="Shape 12"/>
          <p:cNvSpPr/>
          <p:nvPr/>
        </p:nvSpPr>
        <p:spPr>
          <a:xfrm>
            <a:off x="548640" y="4297680"/>
            <a:ext cx="457200" cy="457200"/>
          </a:xfrm>
          <a:prstGeom prst="ellipse">
            <a:avLst/>
          </a:prstGeom>
          <a:solidFill>
            <a:srgbClr val="232C6B"/>
          </a:solidFill>
          <a:ln/>
        </p:spPr>
      </p:sp>
      <p:pic>
        <p:nvPicPr>
          <p:cNvPr id="18" name="Image 3" descr="icon_calendar.png">    </p:cNvPr>
          <p:cNvPicPr>
            <a:picLocks noChangeAspect="1"/>
          </p:cNvPicPr>
          <p:nvPr/>
        </p:nvPicPr>
        <p:blipFill>
          <a:blip r:embed="rId4"/>
          <a:stretch>
            <a:fillRect/>
          </a:stretch>
        </p:blipFill>
        <p:spPr>
          <a:xfrm>
            <a:off x="667512" y="4407408"/>
            <a:ext cx="237744" cy="237744"/>
          </a:xfrm>
          <a:prstGeom prst="rect">
            <a:avLst/>
          </a:prstGeom>
        </p:spPr>
      </p:pic>
      <p:sp>
        <p:nvSpPr>
          <p:cNvPr id="19" name="Text 13"/>
          <p:cNvSpPr/>
          <p:nvPr/>
        </p:nvSpPr>
        <p:spPr>
          <a:xfrm>
            <a:off x="1188720" y="4270248"/>
            <a:ext cx="4114800" cy="256032"/>
          </a:xfrm>
          <a:prstGeom prst="rect">
            <a:avLst/>
          </a:prstGeom>
          <a:noFill/>
          <a:ln/>
        </p:spPr>
        <p:txBody>
          <a:bodyPr wrap="square" lIns="0" tIns="0" rIns="0" bIns="0" rtlCol="0" anchor="ctr"/>
          <a:lstStyle/>
          <a:p>
            <a:pPr indent="0" marL="0">
              <a:buNone/>
            </a:pPr>
            <a:r>
              <a:rPr lang="en-US" sz="1100" b="1" spc="100" kern="0" dirty="0">
                <a:solidFill>
                  <a:srgbClr val="9AA3C7"/>
                </a:solidFill>
                <a:latin typeface="Calibri" pitchFamily="34" charset="0"/>
                <a:ea typeface="Calibri" pitchFamily="34" charset="-122"/>
                <a:cs typeface="Calibri" pitchFamily="34" charset="-120"/>
              </a:rPr>
              <a:t>DURATION</a:t>
            </a:r>
            <a:endParaRPr lang="en-US" sz="1100" dirty="0"/>
          </a:p>
        </p:txBody>
      </p:sp>
      <p:sp>
        <p:nvSpPr>
          <p:cNvPr id="20" name="Text 14"/>
          <p:cNvSpPr/>
          <p:nvPr/>
        </p:nvSpPr>
        <p:spPr>
          <a:xfrm>
            <a:off x="1188720" y="4498848"/>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8 Weeks | April – June 2026</a:t>
            </a:r>
            <a:endParaRPr lang="en-US" sz="1500" dirty="0"/>
          </a:p>
        </p:txBody>
      </p:sp>
      <p:pic>
        <p:nvPicPr>
          <p:cNvPr id="21" name="Image 4" descr="certificate-1.jpg">    </p:cNvPr>
          <p:cNvPicPr>
            <a:picLocks noChangeAspect="1"/>
          </p:cNvPicPr>
          <p:nvPr/>
        </p:nvPicPr>
        <p:blipFill>
          <a:blip r:embed="rId5"/>
          <a:srcRect l="-14970" r="-14970" t="0" b="0"/>
          <a:stretch/>
        </p:blipFill>
        <p:spPr>
          <a:xfrm>
            <a:off x="6309360" y="594360"/>
            <a:ext cx="5212080" cy="5669280"/>
          </a:xfrm>
          <a:prstGeom prst="rect">
            <a:avLst/>
          </a:prstGeom>
        </p:spPr>
      </p:pic>
      <p:sp>
        <p:nvSpPr>
          <p:cNvPr id="22"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9AA3C7"/>
                </a:solidFill>
                <a:latin typeface="Calibri" pitchFamily="34" charset="0"/>
                <a:ea typeface="Calibri" pitchFamily="34" charset="-122"/>
                <a:cs typeface="Calibri" pitchFamily="34" charset="-120"/>
              </a:rPr>
              <a:t>AWS Gen AI Virtual Internship  •  Ayushi Singh</a:t>
            </a:r>
            <a:endParaRPr lang="en-US" sz="1000" dirty="0"/>
          </a:p>
        </p:txBody>
      </p:sp>
      <p:sp>
        <p:nvSpPr>
          <p:cNvPr id="23" name="Text 16"/>
          <p:cNvSpPr/>
          <p:nvPr/>
        </p:nvSpPr>
        <p:spPr>
          <a:xfrm>
            <a:off x="11000232" y="6473952"/>
            <a:ext cx="73152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50"/>
        </a:solidFill>
      </p:bgPr>
    </p:bg>
    <p:spTree>
      <p:nvGrpSpPr>
        <p:cNvPr id="1" name=""/>
        <p:cNvGrpSpPr/>
        <p:nvPr/>
      </p:nvGrpSpPr>
      <p:grpSpPr>
        <a:xfrm>
          <a:off x="0" y="0"/>
          <a:ext cx="0" cy="0"/>
          <a:chOff x="0" y="0"/>
          <a:chExt cx="0" cy="0"/>
        </a:xfrm>
      </p:grpSpPr>
      <p:sp>
        <p:nvSpPr>
          <p:cNvPr id="2" name="Shape 0"/>
          <p:cNvSpPr/>
          <p:nvPr/>
        </p:nvSpPr>
        <p:spPr>
          <a:xfrm>
            <a:off x="9784080" y="-1645920"/>
            <a:ext cx="4754880" cy="4754880"/>
          </a:xfrm>
          <a:prstGeom prst="ellipse">
            <a:avLst/>
          </a:prstGeom>
          <a:solidFill>
            <a:srgbClr val="232C6B"/>
          </a:solidFill>
          <a:ln/>
        </p:spPr>
      </p:sp>
      <p:sp>
        <p:nvSpPr>
          <p:cNvPr id="3" name="Shape 1"/>
          <p:cNvSpPr/>
          <p:nvPr/>
        </p:nvSpPr>
        <p:spPr>
          <a:xfrm>
            <a:off x="-1645920" y="4572000"/>
            <a:ext cx="3840480" cy="3840480"/>
          </a:xfrm>
          <a:prstGeom prst="ellipse">
            <a:avLst/>
          </a:prstGeom>
          <a:solidFill>
            <a:srgbClr val="232C6B"/>
          </a:solidFill>
          <a:ln/>
        </p:spPr>
      </p:sp>
      <p:pic>
        <p:nvPicPr>
          <p:cNvPr id="4" name="Image 0" descr="crest.png">    </p:cNvPr>
          <p:cNvPicPr>
            <a:picLocks noChangeAspect="1"/>
          </p:cNvPicPr>
          <p:nvPr/>
        </p:nvPicPr>
        <p:blipFill>
          <a:blip r:embed="rId1"/>
          <a:stretch>
            <a:fillRect/>
          </a:stretch>
        </p:blipFill>
        <p:spPr>
          <a:xfrm>
            <a:off x="5728716" y="1554480"/>
            <a:ext cx="731520" cy="777240"/>
          </a:xfrm>
          <a:prstGeom prst="rect">
            <a:avLst/>
          </a:prstGeom>
        </p:spPr>
      </p:pic>
      <p:sp>
        <p:nvSpPr>
          <p:cNvPr id="5" name="Text 2"/>
          <p:cNvSpPr/>
          <p:nvPr/>
        </p:nvSpPr>
        <p:spPr>
          <a:xfrm>
            <a:off x="0" y="2697480"/>
            <a:ext cx="1218895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6" name="Text 3"/>
          <p:cNvSpPr/>
          <p:nvPr/>
        </p:nvSpPr>
        <p:spPr>
          <a:xfrm>
            <a:off x="0" y="3611880"/>
            <a:ext cx="12188952" cy="365760"/>
          </a:xfrm>
          <a:prstGeom prst="rect">
            <a:avLst/>
          </a:prstGeom>
          <a:noFill/>
          <a:ln/>
        </p:spPr>
        <p:txBody>
          <a:bodyPr wrap="square" lIns="0" tIns="0" rIns="0" bIns="0" rtlCol="0" anchor="ctr"/>
          <a:lstStyle/>
          <a:p>
            <a:pPr algn="ctr" indent="0" marL="0">
              <a:buNone/>
            </a:pPr>
            <a:r>
              <a:rPr lang="en-US" sz="1500" dirty="0">
                <a:solidFill>
                  <a:srgbClr val="C7CFEA"/>
                </a:solidFill>
                <a:latin typeface="Calibri" pitchFamily="34" charset="0"/>
                <a:ea typeface="Calibri" pitchFamily="34" charset="-122"/>
                <a:cs typeface="Calibri" pitchFamily="34" charset="-120"/>
              </a:rPr>
              <a:t>AWS Gen AI Virtual Internship  |  AICTE – EduSkills Program</a:t>
            </a:r>
            <a:endParaRPr lang="en-US" sz="1500" dirty="0"/>
          </a:p>
        </p:txBody>
      </p:sp>
      <p:sp>
        <p:nvSpPr>
          <p:cNvPr id="7" name="Shape 4"/>
          <p:cNvSpPr/>
          <p:nvPr/>
        </p:nvSpPr>
        <p:spPr>
          <a:xfrm>
            <a:off x="5088636" y="4160520"/>
            <a:ext cx="2011680" cy="0"/>
          </a:xfrm>
          <a:prstGeom prst="line">
            <a:avLst/>
          </a:prstGeom>
          <a:noFill/>
          <a:ln w="31750">
            <a:solidFill>
              <a:srgbClr val="E8A33D"/>
            </a:solidFill>
            <a:prstDash val="solid"/>
          </a:ln>
        </p:spPr>
      </p:sp>
      <p:sp>
        <p:nvSpPr>
          <p:cNvPr id="8" name="Text 5"/>
          <p:cNvSpPr/>
          <p:nvPr/>
        </p:nvSpPr>
        <p:spPr>
          <a:xfrm>
            <a:off x="0" y="4343400"/>
            <a:ext cx="1218895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Ayushi Singh</a:t>
            </a:r>
            <a:endParaRPr lang="en-US" sz="1600" dirty="0"/>
          </a:p>
        </p:txBody>
      </p:sp>
      <p:sp>
        <p:nvSpPr>
          <p:cNvPr id="9" name="Text 6"/>
          <p:cNvSpPr/>
          <p:nvPr/>
        </p:nvSpPr>
        <p:spPr>
          <a:xfrm>
            <a:off x="0" y="4709160"/>
            <a:ext cx="12188952" cy="320040"/>
          </a:xfrm>
          <a:prstGeom prst="rect">
            <a:avLst/>
          </a:prstGeom>
          <a:noFill/>
          <a:ln/>
        </p:spPr>
        <p:txBody>
          <a:bodyPr wrap="square" lIns="0" tIns="0" rIns="0" bIns="0" rtlCol="0" anchor="ctr"/>
          <a:lstStyle/>
          <a:p>
            <a:pPr algn="ctr" indent="0" marL="0">
              <a:buNone/>
            </a:pPr>
            <a:r>
              <a:rPr lang="en-US" sz="1300" dirty="0">
                <a:solidFill>
                  <a:srgbClr val="B9C2E3"/>
                </a:solidFill>
                <a:latin typeface="Calibri" pitchFamily="34" charset="0"/>
                <a:ea typeface="Calibri" pitchFamily="34" charset="-122"/>
                <a:cs typeface="Calibri" pitchFamily="34" charset="-120"/>
              </a:rPr>
              <a:t>Roll No. 2410030704  |  IILM University, Greater Noida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2026-08-30T13:08:00Z</dcterms:created>
  <dcterms:modified xsi:type="dcterms:W3CDTF">2026-08-30T13:08:00Z</dcterms:modified>
</cp:coreProperties>
</file>